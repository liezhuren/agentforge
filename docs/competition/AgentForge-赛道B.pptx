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874519"/>
            <a:ext cx="109728" cy="1920240"/>
          </a:xfrm>
          <a:prstGeom prst="rect">
            <a:avLst/>
          </a:prstGeom>
          <a:solidFill>
            <a:srgbClr val="35C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737360"/>
            <a:ext cx="1005840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4400" b="1">
                <a:solidFill>
                  <a:srgbClr val="EAF0F6"/>
                </a:solidFill>
                <a:latin typeface="Microsoft YaHei"/>
              </a:rPr>
              <a:t/>
            </a:r>
            <a:r>
              <a:rPr sz="4400" b="1">
                <a:solidFill>
                  <a:srgbClr val="EAF0F6"/>
                </a:solidFill>
                <a:latin typeface="Microsoft YaHei"/>
              </a:rPr>
              <a:t>AgentForge</a:t>
            </a:r>
          </a:p>
          <a:p>
            <a:pPr algn="l">
              <a:spcBef>
                <a:spcPts val="1000"/>
              </a:spcBef>
            </a:pPr>
            <a:r>
              <a:rPr sz="2800" b="1">
                <a:solidFill>
                  <a:srgbClr val="35C48F"/>
                </a:solidFill>
                <a:latin typeface="Microsoft YaHei"/>
              </a:rPr>
              <a:t>让「AI 说它做完了」变成能被机械证明的交付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79476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>
                <a:solidFill>
                  <a:srgbClr val="9AA7B4"/>
                </a:solidFill>
                <a:latin typeface="Microsoft YaHei"/>
              </a:rPr>
              <a:t/>
            </a:r>
            <a:r>
              <a:rPr sz="1500" b="0">
                <a:solidFill>
                  <a:srgbClr val="9AA7B4"/>
                </a:solidFill>
                <a:latin typeface="Microsoft YaHei"/>
              </a:rPr>
              <a:t>一个带确定性验收的多角色 AI 研发引擎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9AA7B4"/>
                </a:solidFill>
                <a:latin typeface="Microsoft YaHei"/>
              </a:rPr>
              <a:t>11 条锚点 · 5 个角色 · 8 个阶段 · 401 个测试 · 靶场零误报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892040"/>
            <a:ext cx="10908792" cy="96012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35C48F"/>
                </a:solidFill>
                <a:latin typeface="Microsoft YaHei"/>
              </a:rPr>
              <a:t>实跑结果（可复核）：AI 产出的茶歇系统 —— 单元测试 22 / 22，端到端验收 33 / 33，零第三方依赖即可启动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9AA7B4"/>
                </a:solidFill>
                <a:latin typeface="Microsoft YaHei"/>
              </a:rPr>
              <a:t>产物：demo/coffeebreak/   ·   证据：docs/competition/evidence/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807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9AA7B4"/>
                </a:solidFill>
                <a:latin typeface="Microsoft YaHei"/>
              </a:rPr>
              <a:t/>
            </a:r>
            <a:r>
              <a:rPr sz="1200" b="0">
                <a:solidFill>
                  <a:srgbClr val="9AA7B4"/>
                </a:solidFill>
                <a:latin typeface="Microsoft YaHei"/>
              </a:rPr>
              <a:t>刘泽 · B23040610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35C48F"/>
                </a:solidFill>
                <a:latin typeface="Microsoft YaHei"/>
              </a:rPr>
              <a:t/>
            </a:r>
            <a:r>
              <a:rPr sz="1300" b="1">
                <a:solidFill>
                  <a:srgbClr val="35C48F"/>
                </a:solidFill>
                <a:latin typeface="Microsoft YaHei"/>
              </a:rPr>
              <a:t>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EAF0F6"/>
                </a:solidFill>
                <a:latin typeface="Microsoft YaHei"/>
              </a:rPr>
              <a:t/>
            </a:r>
            <a:r>
              <a:rPr sz="3000" b="1">
                <a:solidFill>
                  <a:srgbClr val="EAF0F6"/>
                </a:solidFill>
                <a:latin typeface="Microsoft YaHei"/>
              </a:rPr>
              <a:t>AI 编程的失败是「假绿灯」式的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0">
                <a:solidFill>
                  <a:srgbClr val="9AA7B4"/>
                </a:solidFill>
                <a:latin typeface="Microsoft YaHei"/>
              </a:rPr>
              <a:t/>
            </a:r>
            <a:r>
              <a:rPr sz="1400" b="0">
                <a:solidFill>
                  <a:srgbClr val="9AA7B4"/>
                </a:solidFill>
                <a:latin typeface="Microsoft YaHei"/>
              </a:rPr>
              <a:t>看起来完整，实际跑不起来 —— 而工具自己不知道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1417320"/>
            <a:ext cx="10908792" cy="0"/>
          </a:xfrm>
          <a:prstGeom prst="line">
            <a:avLst/>
          </a:prstGeom>
          <a:ln w="12700">
            <a:solidFill>
              <a:srgbClr val="2B36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40080" y="1783080"/>
            <a:ext cx="5257800" cy="324612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l">
              <a:spcBef>
                <a:spcPts val="0"/>
              </a:spcBef>
            </a:pPr>
            <a:r>
              <a:rPr sz="1600" b="1">
                <a:solidFill>
                  <a:srgbClr val="F2B544"/>
                </a:solidFill>
                <a:latin typeface="Microsoft YaHei"/>
              </a:rPr>
              <a:t>表面指标（工具说）</a:t>
            </a:r>
          </a:p>
          <a:p>
            <a:pPr algn="l">
              <a:spcBef>
                <a:spcPts val="1400"/>
              </a:spcBef>
            </a:pPr>
            <a:r>
              <a:rPr sz="1400" b="0">
                <a:solidFill>
                  <a:srgbClr val="EAF0F6"/>
                </a:solidFill>
                <a:latin typeface="Microsoft YaHei"/>
              </a:rPr>
              <a:t>✓  18 个模块 / 4,443 行代码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EAF0F6"/>
                </a:solidFill>
                <a:latin typeface="Microsoft YaHei"/>
              </a:rPr>
              <a:t>✓  tsc --noEmit 通过（编译没问题）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EAF0F6"/>
                </a:solidFill>
                <a:latin typeface="Microsoft YaHei"/>
              </a:rPr>
              <a:t>✓  17 个契约端点「代码里全都实现了」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EAF0F6"/>
                </a:solidFill>
                <a:latin typeface="Microsoft YaHei"/>
              </a:rPr>
              <a:t>✓  写了 39 条测试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1783080"/>
            <a:ext cx="5257800" cy="324612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l">
              <a:spcBef>
                <a:spcPts val="0"/>
              </a:spcBef>
            </a:pPr>
            <a:r>
              <a:rPr sz="1600" b="1">
                <a:solidFill>
                  <a:srgbClr val="E86A5C"/>
                </a:solidFill>
                <a:latin typeface="Microsoft YaHei"/>
              </a:rPr>
              <a:t>真实结果（跑一下）</a:t>
            </a:r>
          </a:p>
          <a:p>
            <a:pPr algn="l">
              <a:spcBef>
                <a:spcPts val="1400"/>
              </a:spcBef>
            </a:pPr>
            <a:r>
              <a:rPr sz="1400" b="0">
                <a:solidFill>
                  <a:srgbClr val="EAF0F6"/>
                </a:solidFill>
                <a:latin typeface="Microsoft YaHei"/>
              </a:rPr>
              <a:t>✗  12 个端点一律返回 HTTP 501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EAF0F6"/>
                </a:solidFill>
                <a:latin typeface="Microsoft YaHei"/>
              </a:rPr>
              <a:t>✗  39 条测试里 26 条失败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EAF0F6"/>
                </a:solidFill>
                <a:latin typeface="Microsoft YaHei"/>
              </a:rPr>
              <a:t>✗  业务模块一次都没被调用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EAF0F6"/>
                </a:solidFill>
                <a:latin typeface="Microsoft YaHei"/>
              </a:rPr>
              <a:t>✗  A7 锚点当时报「全部端点已实现」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70448" y="3154680"/>
            <a:ext cx="420624" cy="457200"/>
          </a:xfrm>
          <a:prstGeom prst="rightArrow">
            <a:avLst/>
          </a:prstGeom>
          <a:solidFill>
            <a:srgbClr val="2B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5193792"/>
            <a:ext cx="10908792" cy="105156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EAF0F6"/>
                </a:solidFill>
                <a:latin typeface="Microsoft YaHei"/>
              </a:rPr>
              <a:t>根子是一行代码：鉴权通过后直接 sendJson(res, 501, { error: 'not implemented yet' }) 然后 return —— 从不调用业务模块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9AA7B4"/>
                </a:solidFill>
                <a:latin typeface="Microsoft YaHei"/>
              </a:rPr>
              <a:t>而 4 个 handleXxx() 全都「导出了、无人调用」。这是我自己跑出来的真实产物，不是编的例子。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AgentForge · 多角色 AI 研发引擎 · 赛道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35C48F"/>
                </a:solidFill>
                <a:latin typeface="Microsoft YaHei"/>
              </a:rPr>
              <a:t/>
            </a:r>
            <a:r>
              <a:rPr sz="1300" b="1">
                <a:solidFill>
                  <a:srgbClr val="35C48F"/>
                </a:solidFill>
                <a:latin typeface="Microsoft YaHei"/>
              </a:rPr>
              <a:t>根因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EAF0F6"/>
                </a:solidFill>
                <a:latin typeface="Microsoft YaHei"/>
              </a:rPr>
              <a:t/>
            </a:r>
            <a:r>
              <a:rPr sz="3000" b="1">
                <a:solidFill>
                  <a:srgbClr val="EAF0F6"/>
                </a:solidFill>
                <a:latin typeface="Microsoft YaHei"/>
              </a:rPr>
              <a:t>不是模型不行，是系统在让角色「盲写」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0">
                <a:solidFill>
                  <a:srgbClr val="9AA7B4"/>
                </a:solidFill>
                <a:latin typeface="Microsoft YaHei"/>
              </a:rPr>
              <a:t/>
            </a:r>
            <a:r>
              <a:rPr sz="1400" b="0">
                <a:solidFill>
                  <a:srgbClr val="9AA7B4"/>
                </a:solidFill>
                <a:latin typeface="Microsoft YaHei"/>
              </a:rPr>
              <a:t>30 次调用、113 万 token，而每次调用的输入恒定在 10.6k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1417320"/>
            <a:ext cx="10908792" cy="0"/>
          </a:xfrm>
          <a:prstGeom prst="line">
            <a:avLst/>
          </a:prstGeom>
          <a:ln w="12700">
            <a:solidFill>
              <a:srgbClr val="2B36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85800" y="3657599"/>
            <a:ext cx="5577840" cy="0"/>
          </a:xfrm>
          <a:prstGeom prst="line">
            <a:avLst/>
          </a:prstGeom>
          <a:ln>
            <a:solidFill>
              <a:srgbClr val="2B36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85800" y="1874519"/>
            <a:ext cx="0" cy="1783080"/>
          </a:xfrm>
          <a:prstGeom prst="line">
            <a:avLst/>
          </a:prstGeom>
          <a:ln>
            <a:solidFill>
              <a:srgbClr val="2B36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920877" y="2634184"/>
            <a:ext cx="87630" cy="87630"/>
          </a:xfrm>
          <a:prstGeom prst="ellipse">
            <a:avLst/>
          </a:prstGeom>
          <a:solidFill>
            <a:srgbClr val="E86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01774" y="2572561"/>
            <a:ext cx="87630" cy="87630"/>
          </a:xfrm>
          <a:prstGeom prst="ellipse">
            <a:avLst/>
          </a:prstGeom>
          <a:solidFill>
            <a:srgbClr val="E86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964692" y="2616376"/>
            <a:ext cx="780897" cy="61623"/>
          </a:xfrm>
          <a:prstGeom prst="line">
            <a:avLst/>
          </a:prstGeom>
          <a:ln w="15875">
            <a:solidFill>
              <a:srgbClr val="E86A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2482672" y="2424667"/>
            <a:ext cx="87630" cy="87630"/>
          </a:xfrm>
          <a:prstGeom prst="ellipse">
            <a:avLst/>
          </a:prstGeom>
          <a:solidFill>
            <a:srgbClr val="E86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V="1">
            <a:off x="1745589" y="2468482"/>
            <a:ext cx="780898" cy="147894"/>
          </a:xfrm>
          <a:prstGeom prst="line">
            <a:avLst/>
          </a:prstGeom>
          <a:ln w="15875">
            <a:solidFill>
              <a:srgbClr val="E86A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263569" y="2671157"/>
            <a:ext cx="87630" cy="87630"/>
          </a:xfrm>
          <a:prstGeom prst="ellipse">
            <a:avLst/>
          </a:prstGeom>
          <a:solidFill>
            <a:srgbClr val="E86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2526487" y="2468482"/>
            <a:ext cx="780897" cy="246490"/>
          </a:xfrm>
          <a:prstGeom prst="line">
            <a:avLst/>
          </a:prstGeom>
          <a:ln w="15875">
            <a:solidFill>
              <a:srgbClr val="E86A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4044467" y="2658833"/>
            <a:ext cx="87630" cy="87630"/>
          </a:xfrm>
          <a:prstGeom prst="ellipse">
            <a:avLst/>
          </a:prstGeom>
          <a:solidFill>
            <a:srgbClr val="E86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 flipV="1">
            <a:off x="3307384" y="2702648"/>
            <a:ext cx="780898" cy="12324"/>
          </a:xfrm>
          <a:prstGeom prst="line">
            <a:avLst/>
          </a:prstGeom>
          <a:ln w="15875">
            <a:solidFill>
              <a:srgbClr val="E86A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4825365" y="2695806"/>
            <a:ext cx="87630" cy="87630"/>
          </a:xfrm>
          <a:prstGeom prst="ellipse">
            <a:avLst/>
          </a:prstGeom>
          <a:solidFill>
            <a:srgbClr val="E86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4088282" y="2702648"/>
            <a:ext cx="780898" cy="36973"/>
          </a:xfrm>
          <a:prstGeom prst="line">
            <a:avLst/>
          </a:prstGeom>
          <a:ln w="15875">
            <a:solidFill>
              <a:srgbClr val="E86A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5662041" y="2178176"/>
            <a:ext cx="87630" cy="87630"/>
          </a:xfrm>
          <a:prstGeom prst="ellipse">
            <a:avLst/>
          </a:prstGeom>
          <a:solidFill>
            <a:srgbClr val="E86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4869180" y="2221991"/>
            <a:ext cx="836676" cy="517630"/>
          </a:xfrm>
          <a:prstGeom prst="line">
            <a:avLst/>
          </a:prstGeom>
          <a:ln w="15875">
            <a:solidFill>
              <a:srgbClr val="E86A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3785615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/>
            </a:r>
            <a:r>
              <a:rPr sz="1100" b="0">
                <a:solidFill>
                  <a:srgbClr val="9AA7B4"/>
                </a:solidFill>
                <a:latin typeface="Microsoft YaHei"/>
              </a:rPr>
              <a:t>横轴：项目规模 0 → 4,443 行   ｜   纵轴：输入 token ≈ 10.6k（几乎不动）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46520" y="1874519"/>
            <a:ext cx="5102352" cy="713232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1965959"/>
            <a:ext cx="1234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>
                <a:solidFill>
                  <a:srgbClr val="E86A5C"/>
                </a:solidFill>
                <a:latin typeface="Microsoft YaHei"/>
              </a:rPr>
              <a:t/>
            </a:r>
            <a:r>
              <a:rPr sz="2400" b="1">
                <a:solidFill>
                  <a:srgbClr val="E86A5C"/>
                </a:solidFill>
                <a:latin typeface="Microsoft YaHei"/>
              </a:rPr>
              <a:t>95%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82127" y="2029967"/>
            <a:ext cx="3520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/>
            </a:r>
            <a:r>
              <a:rPr sz="1100" b="0">
                <a:solidFill>
                  <a:srgbClr val="EAF0F6"/>
                </a:solidFill>
                <a:latin typeface="Microsoft YaHei"/>
              </a:rPr>
              <a:t>24,000 字符的上下文被「需求 + PRD + 任务图」吃掉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46520" y="2697479"/>
            <a:ext cx="5102352" cy="713232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9400" y="2788919"/>
            <a:ext cx="1234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>
                <a:solidFill>
                  <a:srgbClr val="E86A5C"/>
                </a:solidFill>
                <a:latin typeface="Microsoft YaHei"/>
              </a:rPr>
              <a:t/>
            </a:r>
            <a:r>
              <a:rPr sz="2400" b="1">
                <a:solidFill>
                  <a:srgbClr val="E86A5C"/>
                </a:solidFill>
                <a:latin typeface="Microsoft YaHei"/>
              </a:rPr>
              <a:t>4.2%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82127" y="2852927"/>
            <a:ext cx="3520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/>
            </a:r>
            <a:r>
              <a:rPr sz="1100" b="0">
                <a:solidFill>
                  <a:srgbClr val="EAF0F6"/>
                </a:solidFill>
                <a:latin typeface="Microsoft YaHei"/>
              </a:rPr>
              <a:t>54 万字符的工件里，真正送达模型的只有这么多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46520" y="3520439"/>
            <a:ext cx="5102352" cy="713232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3611879"/>
            <a:ext cx="1234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>
                <a:solidFill>
                  <a:srgbClr val="F2B544"/>
                </a:solidFill>
                <a:latin typeface="Microsoft YaHei"/>
              </a:rPr>
              <a:t/>
            </a:r>
            <a:r>
              <a:rPr sz="2400" b="1">
                <a:solidFill>
                  <a:srgbClr val="F2B544"/>
                </a:solidFill>
                <a:latin typeface="Microsoft YaHei"/>
              </a:rPr>
              <a:t>2.2 :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82127" y="3675887"/>
            <a:ext cx="3520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/>
            </a:r>
            <a:r>
              <a:rPr sz="1100" b="0">
                <a:solidFill>
                  <a:srgbClr val="EAF0F6"/>
                </a:solidFill>
                <a:latin typeface="Microsoft YaHei"/>
              </a:rPr>
              <a:t>输出 / 输入 —— 每次都在从零重写，而不是修改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526280"/>
            <a:ext cx="10908792" cy="137160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35C48F"/>
                </a:solidFill>
                <a:latin typeface="Microsoft YaHei"/>
              </a:rPr>
              <a:t>关键判据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EAF0F6"/>
                </a:solidFill>
                <a:latin typeface="Microsoft YaHei"/>
              </a:rPr>
              <a:t>契约（60,720 字符）整件丢失 → 后端照 PRD 散文自己发明接口；别人的代码一件没进 → 不可能接线；测试报告一件没进 → 连修 6 轮不收敛。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AgentForge · 多角色 AI 研发引擎 · 赛道 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35C48F"/>
                </a:solidFill>
                <a:latin typeface="Microsoft YaHei"/>
              </a:rPr>
              <a:t/>
            </a:r>
            <a:r>
              <a:rPr sz="1300" b="1">
                <a:solidFill>
                  <a:srgbClr val="35C48F"/>
                </a:solidFill>
                <a:latin typeface="Microsoft YaHei"/>
              </a:rPr>
              <a:t>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EAF0F6"/>
                </a:solidFill>
                <a:latin typeface="Microsoft YaHei"/>
              </a:rPr>
              <a:t/>
            </a:r>
            <a:r>
              <a:rPr sz="3000" b="1">
                <a:solidFill>
                  <a:srgbClr val="EAF0F6"/>
                </a:solidFill>
                <a:latin typeface="Microsoft YaHei"/>
              </a:rPr>
              <a:t>编排内核零 LLM，判断不可能被模型带偏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417320"/>
            <a:ext cx="10908792" cy="0"/>
          </a:xfrm>
          <a:prstGeom prst="line">
            <a:avLst/>
          </a:prstGeom>
          <a:ln w="12700">
            <a:solidFill>
              <a:srgbClr val="2B36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" y="1783080"/>
            <a:ext cx="8275320" cy="713232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956816"/>
            <a:ext cx="1143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>
                <a:solidFill>
                  <a:srgbClr val="9AA7B4"/>
                </a:solidFill>
                <a:latin typeface="Microsoft YaHei"/>
              </a:rPr>
              <a:t/>
            </a:r>
            <a:r>
              <a:rPr sz="1400" b="1">
                <a:solidFill>
                  <a:srgbClr val="9AA7B4"/>
                </a:solidFill>
                <a:latin typeface="Microsoft YaHei"/>
              </a:rPr>
              <a:t>入口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865376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EAF0F6"/>
                </a:solidFill>
                <a:latin typeface="Microsoft YaHei"/>
              </a:rPr>
              <a:t/>
            </a:r>
            <a:r>
              <a:rPr sz="1200" b="0">
                <a:solidFill>
                  <a:srgbClr val="EAF0F6"/>
                </a:solidFill>
                <a:latin typeface="Microsoft YaHei"/>
              </a:rPr>
              <a:t>CLI · Web 控制台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956816"/>
            <a:ext cx="18105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cli-run.ts · server/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587752"/>
            <a:ext cx="8275320" cy="713232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761488"/>
            <a:ext cx="1143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>
                <a:solidFill>
                  <a:srgbClr val="35C48F"/>
                </a:solidFill>
                <a:latin typeface="Microsoft YaHei"/>
              </a:rPr>
              <a:t/>
            </a:r>
            <a:r>
              <a:rPr sz="1400" b="1">
                <a:solidFill>
                  <a:srgbClr val="35C48F"/>
                </a:solidFill>
                <a:latin typeface="Microsoft YaHei"/>
              </a:rPr>
              <a:t>编排层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670048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EAF0F6"/>
                </a:solidFill>
                <a:latin typeface="Microsoft YaHei"/>
              </a:rPr>
              <a:t/>
            </a:r>
            <a:r>
              <a:rPr sz="1200" b="0">
                <a:solidFill>
                  <a:srgbClr val="EAF0F6"/>
                </a:solidFill>
                <a:latin typeface="Microsoft YaHei"/>
              </a:rPr>
              <a:t>8 阶段状态机 · 唯一 Gate · 账本 · 机械裁判 · 圆桌 · 逃生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2761488"/>
            <a:ext cx="18105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orchestrator/（零 LLM 调用）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392424"/>
            <a:ext cx="8275320" cy="713232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566160"/>
            <a:ext cx="1143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>
                <a:solidFill>
                  <a:srgbClr val="35C48F"/>
                </a:solidFill>
                <a:latin typeface="Microsoft YaHei"/>
              </a:rPr>
              <a:t/>
            </a:r>
            <a:r>
              <a:rPr sz="1400" b="1">
                <a:solidFill>
                  <a:srgbClr val="35C48F"/>
                </a:solidFill>
                <a:latin typeface="Microsoft YaHei"/>
              </a:rPr>
              <a:t>验收层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347472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EAF0F6"/>
                </a:solidFill>
                <a:latin typeface="Microsoft YaHei"/>
              </a:rPr>
              <a:t/>
            </a:r>
            <a:r>
              <a:rPr sz="1200" b="0">
                <a:solidFill>
                  <a:srgbClr val="EAF0F6"/>
                </a:solidFill>
                <a:latin typeface="Microsoft YaHei"/>
              </a:rPr>
              <a:t>A1–A8 事实锚（编译/测试/探针/契约/基准） · B1–B3 语义锚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3566160"/>
            <a:ext cx="18105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anchors/（LLM 提议 + 机械核验）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197096"/>
            <a:ext cx="8275320" cy="713232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370832"/>
            <a:ext cx="1143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>
                <a:solidFill>
                  <a:srgbClr val="EAF0F6"/>
                </a:solidFill>
                <a:latin typeface="Microsoft YaHei"/>
              </a:rPr>
              <a:t/>
            </a:r>
            <a:r>
              <a:rPr sz="1400" b="1">
                <a:solidFill>
                  <a:srgbClr val="EAF0F6"/>
                </a:solidFill>
                <a:latin typeface="Microsoft YaHei"/>
              </a:rPr>
              <a:t>角色层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4279392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EAF0F6"/>
                </a:solidFill>
                <a:latin typeface="Microsoft YaHei"/>
              </a:rPr>
              <a:t/>
            </a:r>
            <a:r>
              <a:rPr sz="1200" b="0">
                <a:solidFill>
                  <a:srgbClr val="EAF0F6"/>
                </a:solidFill>
                <a:latin typeface="Microsoft YaHei"/>
              </a:rPr>
              <a:t>pm · backend · frontend · test · host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370832"/>
            <a:ext cx="18105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roles/（上下文装配 + schema 门禁）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001768"/>
            <a:ext cx="8275320" cy="713232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5175504"/>
            <a:ext cx="1143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>
                <a:solidFill>
                  <a:srgbClr val="9AA7B4"/>
                </a:solidFill>
                <a:latin typeface="Microsoft YaHei"/>
              </a:rPr>
              <a:t/>
            </a:r>
            <a:r>
              <a:rPr sz="1400" b="1">
                <a:solidFill>
                  <a:srgbClr val="9AA7B4"/>
                </a:solidFill>
                <a:latin typeface="Microsoft YaHei"/>
              </a:rPr>
              <a:t>能力层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5084064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EAF0F6"/>
                </a:solidFill>
                <a:latin typeface="Microsoft YaHei"/>
              </a:rPr>
              <a:t/>
            </a:r>
            <a:r>
              <a:rPr sz="1200" b="0">
                <a:solidFill>
                  <a:srgbClr val="EAF0F6"/>
                </a:solidFill>
                <a:latin typeface="Microsoft YaHei"/>
              </a:rPr>
              <a:t>Provider 抽象 · 录制回放 · 三层记忆 · 工件库 · 哈希链日志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5175504"/>
            <a:ext cx="18105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llm/ · memory/ · core/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98280" y="1783080"/>
            <a:ext cx="2450592" cy="356616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35C48F"/>
                </a:solidFill>
                <a:latin typeface="Microsoft YaHei"/>
              </a:rPr>
              <a:t>三个设计决定</a:t>
            </a:r>
          </a:p>
          <a:p>
            <a:pPr algn="l">
              <a:spcBef>
                <a:spcPts val="12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① 编排里没有一次 LLM 调用</a:t>
            </a:r>
          </a:p>
          <a:p>
            <a:pPr algn="l">
              <a:spcBef>
                <a:spcPts val="8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② SKIPPED ≠ PASS</a:t>
            </a:r>
          </a:p>
          <a:p>
            <a:pPr algn="l">
              <a:spcBef>
                <a:spcPts val="8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③ 8 个阶段共用同一个 Gate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806440"/>
            <a:ext cx="10908792" cy="45720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零依赖：Node ≥ 24 原生执行 TypeScript，克隆即跑（401 个测试；CI 断言仓库根目录没有 node_modules）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AgentForge · 多角色 AI 研发引擎 · 赛道 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35C48F"/>
                </a:solidFill>
                <a:latin typeface="Microsoft YaHei"/>
              </a:rPr>
              <a:t/>
            </a:r>
            <a:r>
              <a:rPr sz="1300" b="1">
                <a:solidFill>
                  <a:srgbClr val="35C48F"/>
                </a:solidFill>
                <a:latin typeface="Microsoft YaHei"/>
              </a:rPr>
              <a:t>Agent 链路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EAF0F6"/>
                </a:solidFill>
                <a:latin typeface="Microsoft YaHei"/>
              </a:rPr>
              <a:t/>
            </a:r>
            <a:r>
              <a:rPr sz="3000" b="1">
                <a:solidFill>
                  <a:srgbClr val="EAF0F6"/>
                </a:solidFill>
                <a:latin typeface="Microsoft YaHei"/>
              </a:rPr>
              <a:t>五个角色不直接对话，只传接口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0">
                <a:solidFill>
                  <a:srgbClr val="9AA7B4"/>
                </a:solidFill>
                <a:latin typeface="Microsoft YaHei"/>
              </a:rPr>
              <a:t/>
            </a:r>
            <a:r>
              <a:rPr sz="1400" b="0">
                <a:solidFill>
                  <a:srgbClr val="9AA7B4"/>
                </a:solidFill>
                <a:latin typeface="Microsoft YaHei"/>
              </a:rPr>
              <a:t>谁能看到什么由代码强制，不靠提示词自律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1417320"/>
            <a:ext cx="10908792" cy="0"/>
          </a:xfrm>
          <a:prstGeom prst="line">
            <a:avLst/>
          </a:prstGeom>
          <a:ln w="12700">
            <a:solidFill>
              <a:srgbClr val="2B36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40080" y="1783080"/>
            <a:ext cx="5120640" cy="324612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l">
              <a:spcBef>
                <a:spcPts val="0"/>
              </a:spcBef>
            </a:pPr>
            <a:r>
              <a:rPr sz="1600" b="1">
                <a:solidFill>
                  <a:srgbClr val="E86A5C"/>
                </a:solidFill>
                <a:latin typeface="Microsoft YaHei"/>
              </a:rPr>
              <a:t>✗ 全文互传</a:t>
            </a:r>
          </a:p>
          <a:p>
            <a:pPr algn="l">
              <a:spcBef>
                <a:spcPts val="1200"/>
              </a:spcBef>
            </a:pPr>
            <a:r>
              <a:rPr sz="1200" b="0">
                <a:solidFill>
                  <a:srgbClr val="EAF0F6"/>
                </a:solidFill>
                <a:latin typeface="Microsoft YaHei"/>
              </a:rPr>
              <a:t>把全部源码堆进一个大上下文 =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EAF0F6"/>
                </a:solidFill>
                <a:latin typeface="Microsoft YaHei"/>
              </a:rPr>
              <a:t>把多角色系统退化成单一大上下文，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EAF0F6"/>
                </a:solidFill>
                <a:latin typeface="Microsoft YaHei"/>
              </a:rPr>
              <a:t>切分就白做了；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EAF0F6"/>
                </a:solidFill>
                <a:latin typeface="Microsoft YaHei"/>
              </a:rPr>
              <a:t>而且下一个更大的项目会再次溢出。</a:t>
            </a:r>
          </a:p>
          <a:p>
            <a:pPr algn="l">
              <a:spcBef>
                <a:spcPts val="14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实测：11 个模块全文 = 20 万字符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53328" y="1783080"/>
            <a:ext cx="5495544" cy="324612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l">
              <a:spcBef>
                <a:spcPts val="0"/>
              </a:spcBef>
            </a:pPr>
            <a:r>
              <a:rPr sz="1600" b="1">
                <a:solidFill>
                  <a:srgbClr val="35C48F"/>
                </a:solidFill>
                <a:latin typeface="Microsoft YaHei"/>
              </a:rPr>
              <a:t>✓ 接口卡：只给导出签名</a:t>
            </a:r>
          </a:p>
          <a:p>
            <a:pPr algn="l">
              <a:spcBef>
                <a:spcPts val="14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export function handlePapersRoute(req: PapersRequest): PapersResponse | null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export function listPapers(): PaperRecord[]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export interface PaperRecord</a:t>
            </a:r>
          </a:p>
          <a:p>
            <a:pPr algn="l">
              <a:spcBef>
                <a:spcPts val="1400"/>
              </a:spcBef>
            </a:pPr>
            <a:r>
              <a:rPr sz="1100" b="0">
                <a:solidFill>
                  <a:srgbClr val="35C48F"/>
                </a:solidFill>
                <a:latin typeface="Microsoft YaHei"/>
              </a:rPr>
              <a:t>实测：11 个模块的全部签名 ≈ 5 千字符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与全文相差 40 倍 —— 这是「只传接口」的量化价值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193792"/>
            <a:ext cx="5120640" cy="105156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35C48F"/>
                </a:solidFill>
                <a:latin typeface="Microsoft YaHei"/>
              </a:rPr>
              <a:t>六种通信通道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EAF0F6"/>
                </a:solidFill>
                <a:latin typeface="Microsoft YaHei"/>
              </a:rPr>
              <a:t>工件库 · 读权限矩阵 · 契约（唯一必须送达）· 模块接口卡 · 工单 · 圆桌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53328" y="5193792"/>
            <a:ext cx="5495544" cy="105156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35C48F"/>
                </a:solidFill>
                <a:latin typeface="Microsoft YaHei"/>
              </a:rPr>
              <a:t>五层配额（从「谁先谁得」改成「谁需要谁得」）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规格 → 执行事实 → 模块接口 → 代码全文 → 需求计划（关键三件保证送达）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AgentForge · 多角色 AI 研发引擎 · 赛道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35C48F"/>
                </a:solidFill>
                <a:latin typeface="Microsoft YaHei"/>
              </a:rPr>
              <a:t/>
            </a:r>
            <a:r>
              <a:rPr sz="1300" b="1">
                <a:solidFill>
                  <a:srgbClr val="35C48F"/>
                </a:solidFill>
                <a:latin typeface="Microsoft YaHei"/>
              </a:rPr>
              <a:t>异常处理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EAF0F6"/>
                </a:solidFill>
                <a:latin typeface="Microsoft YaHei"/>
              </a:rPr>
              <a:t/>
            </a:r>
            <a:r>
              <a:rPr sz="3000" b="1">
                <a:solidFill>
                  <a:srgbClr val="EAF0F6"/>
                </a:solidFill>
                <a:latin typeface="Microsoft YaHei"/>
              </a:rPr>
              <a:t>四层逃生，机械判定，保证不死锁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0">
                <a:solidFill>
                  <a:srgbClr val="9AA7B4"/>
                </a:solidFill>
                <a:latin typeface="Microsoft YaHei"/>
              </a:rPr>
              <a:t/>
            </a:r>
            <a:r>
              <a:rPr sz="1400" b="0">
                <a:solidFill>
                  <a:srgbClr val="9AA7B4"/>
                </a:solidFill>
                <a:latin typeface="Microsoft YaHei"/>
              </a:rPr>
              <a:t>decideEscape() 的三个分支穷举了所有情况 —— 它一定返回一个可执行动作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1417320"/>
            <a:ext cx="10908792" cy="0"/>
          </a:xfrm>
          <a:prstGeom prst="line">
            <a:avLst/>
          </a:prstGeom>
          <a:ln w="12700">
            <a:solidFill>
              <a:srgbClr val="2B36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40080" y="1783080"/>
            <a:ext cx="6766560" cy="786384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90195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35C48F"/>
                </a:solidFill>
                <a:latin typeface="Microsoft YaHei"/>
              </a:rPr>
              <a:t/>
            </a:r>
            <a:r>
              <a:rPr sz="1500" b="1">
                <a:solidFill>
                  <a:srgbClr val="35C48F"/>
                </a:solidFill>
                <a:latin typeface="Microsoft YaHei"/>
              </a:rPr>
              <a:t>① 打回返工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88366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/>
            </a:r>
            <a:r>
              <a:rPr sz="1100" b="0">
                <a:solidFill>
                  <a:srgbClr val="EAF0F6"/>
                </a:solidFill>
                <a:latin typeface="Microsoft YaHei"/>
              </a:rPr>
              <a:t>能归因就先打回；一条都归不了因才开会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216712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便宜、确定、有明确验收条件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679192"/>
            <a:ext cx="6766560" cy="786384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79806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F2B544"/>
                </a:solidFill>
                <a:latin typeface="Microsoft YaHei"/>
              </a:rPr>
              <a:t/>
            </a:r>
            <a:r>
              <a:rPr sz="1500" b="1">
                <a:solidFill>
                  <a:srgbClr val="F2B544"/>
                </a:solidFill>
                <a:latin typeface="Microsoft YaHei"/>
              </a:rPr>
              <a:t>② 圆桌会议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77977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/>
            </a:r>
            <a:r>
              <a:rPr sz="1100" b="0">
                <a:solidFill>
                  <a:srgbClr val="EAF0F6"/>
                </a:solidFill>
                <a:latin typeface="Microsoft YaHei"/>
              </a:rPr>
              <a:t>唯一允许 LLM 协商的地方（T1–T5）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30632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只「归因完全失灵」才触发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575304"/>
            <a:ext cx="6766560" cy="786384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694176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F2B544"/>
                </a:solidFill>
                <a:latin typeface="Microsoft YaHei"/>
              </a:rPr>
              <a:t/>
            </a:r>
            <a:r>
              <a:rPr sz="1500" b="1">
                <a:solidFill>
                  <a:srgbClr val="F2B544"/>
                </a:solidFill>
                <a:latin typeface="Microsoft YaHei"/>
              </a:rPr>
              <a:t>③ 升级真人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36758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/>
            </a:r>
            <a:r>
              <a:rPr sz="1100" b="0">
                <a:solidFill>
                  <a:srgbClr val="EAF0F6"/>
                </a:solidFill>
                <a:latin typeface="Microsoft YaHei"/>
              </a:rPr>
              <a:t>打包成仲裁包，人只需做一次决定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3959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圆桌无有效决议时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471416"/>
            <a:ext cx="6766560" cy="786384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459028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9AA7B4"/>
                </a:solidFill>
                <a:latin typeface="Microsoft YaHei"/>
              </a:rPr>
              <a:t/>
            </a:r>
            <a:r>
              <a:rPr sz="1500" b="1">
                <a:solidFill>
                  <a:srgbClr val="9AA7B4"/>
                </a:solidFill>
                <a:latin typeface="Microsoft YaHei"/>
              </a:rPr>
              <a:t>④ 带债通过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45720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/>
            </a:r>
            <a:r>
              <a:rPr sz="1100" b="0">
                <a:solidFill>
                  <a:srgbClr val="EAF0F6"/>
                </a:solidFill>
                <a:latin typeface="Microsoft YaHei"/>
              </a:rPr>
              <a:t>写 DebtRecord + 需求标 accepted_with_debt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485546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真人不可用时的最终出口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35240" y="1783080"/>
            <a:ext cx="3913632" cy="3401568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28016"/>
          <a:lstStyle/>
          <a:p>
            <a:pPr algn="l">
              <a:spcBef>
                <a:spcPts val="0"/>
              </a:spcBef>
            </a:pPr>
            <a:r>
              <a:rPr sz="1400" b="1">
                <a:solidFill>
                  <a:srgbClr val="35C48F"/>
                </a:solidFill>
                <a:latin typeface="Microsoft YaHei"/>
              </a:rPr>
              <a:t>四个防空转机制</a:t>
            </a:r>
          </a:p>
          <a:p>
            <a:pPr algn="l">
              <a:spcBef>
                <a:spcPts val="12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阻断 3 次后权限自动终止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否则两个 Agent 能互相否决到死</a:t>
            </a:r>
          </a:p>
          <a:p>
            <a:pPr algn="l">
              <a:spcBef>
                <a:spcPts val="10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签名未变 → 不再开会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实测过某阶段连开 6 次圆桌</a:t>
            </a:r>
          </a:p>
          <a:p>
            <a:pPr algn="l">
              <a:spcBef>
                <a:spcPts val="10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修复无效 → 直接转逃生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不重复付费</a:t>
            </a:r>
          </a:p>
          <a:p>
            <a:pPr algn="l">
              <a:spcBef>
                <a:spcPts val="10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上下文超长 → 预算减半重试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不让一次 400 打死整轮 run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532120"/>
            <a:ext cx="10908792" cy="713232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spcBef>
                <a:spcPts val="0"/>
              </a:spcBef>
            </a:pPr>
            <a:r>
              <a:rPr sz="1000" b="1">
                <a:solidFill>
                  <a:srgbClr val="35C48F"/>
                </a:solidFill>
                <a:latin typeface="Microsoft YaHei"/>
              </a:rPr>
              <a:t>真实日志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[CONTRACTING] 工单修复后硬失败签名未变（pm 的修复没有改变任何东西），不再重复重试，转逃生流程 → 带债通过（受影响需求 3 条）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AgentForge · 多角色 AI 研发引擎 · 赛道 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35C48F"/>
                </a:solidFill>
                <a:latin typeface="Microsoft YaHei"/>
              </a:rPr>
              <a:t/>
            </a:r>
            <a:r>
              <a:rPr sz="1300" b="1">
                <a:solidFill>
                  <a:srgbClr val="35C48F"/>
                </a:solidFill>
                <a:latin typeface="Microsoft YaHei"/>
              </a:rPr>
              <a:t>可观测性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EAF0F6"/>
                </a:solidFill>
                <a:latin typeface="Microsoft YaHei"/>
              </a:rPr>
              <a:t/>
            </a:r>
            <a:r>
              <a:rPr sz="3000" b="1">
                <a:solidFill>
                  <a:srgbClr val="EAF0F6"/>
                </a:solidFill>
                <a:latin typeface="Microsoft YaHei"/>
              </a:rPr>
              <a:t>能回答「它到底看到了什么」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0">
                <a:solidFill>
                  <a:srgbClr val="9AA7B4"/>
                </a:solidFill>
                <a:latin typeface="Microsoft YaHei"/>
              </a:rPr>
              <a:t/>
            </a:r>
            <a:r>
              <a:rPr sz="1400" b="0">
                <a:solidFill>
                  <a:srgbClr val="9AA7B4"/>
                </a:solidFill>
                <a:latin typeface="Microsoft YaHei"/>
              </a:rPr>
              <a:t>在这一行存在之前，「为什么它老是做不对」只能靠猜 —— 我们为此花了两小时复算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1417320"/>
            <a:ext cx="10908792" cy="0"/>
          </a:xfrm>
          <a:prstGeom prst="line">
            <a:avLst/>
          </a:prstGeom>
          <a:ln w="12700">
            <a:solidFill>
              <a:srgbClr val="2B36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40080" y="1783080"/>
            <a:ext cx="6675120" cy="251460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28016"/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35C48F"/>
                </a:solidFill>
                <a:latin typeface="Microsoft YaHei"/>
              </a:rPr>
              <a:t>run 日志里的输入审计（每次调用都记）</a:t>
            </a:r>
          </a:p>
          <a:p>
            <a:pPr algn="l">
              <a:spcBef>
                <a:spcPts val="1200"/>
              </a:spcBef>
            </a:pPr>
            <a:r>
              <a:rPr sz="1200" b="0">
                <a:solidFill>
                  <a:srgbClr val="EAF0F6"/>
                </a:solidFill>
                <a:latin typeface="Microsoft YaHei"/>
              </a:rPr>
              <a:t>上下文：23,177 / 60,000 字符（39%）  注入 3 个 · 丢弃 0 个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  其中契约摘要 1 个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  未注入：TaskGraph-001(15520·tier-cap)</a:t>
            </a:r>
          </a:p>
          <a:p>
            <a:pPr algn="l">
              <a:spcBef>
                <a:spcPts val="10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  injected[]: {id, kind, chars, digest? | card?}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  omitted[]: {id, kind, chars, reason: tier-cap | no-space}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1783080"/>
            <a:ext cx="4005072" cy="758952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79" y="18928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35C48F"/>
                </a:solidFill>
                <a:latin typeface="Microsoft YaHei"/>
              </a:rPr>
              <a:t/>
            </a:r>
            <a:r>
              <a:rPr sz="1300" b="1">
                <a:solidFill>
                  <a:srgbClr val="35C48F"/>
                </a:solidFill>
                <a:latin typeface="Microsoft YaHei"/>
              </a:rPr>
              <a:t>哈希链日志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17627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任何一条被改，链就断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43800" y="2651760"/>
            <a:ext cx="4005072" cy="758952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6679" y="27614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EAF0F6"/>
                </a:solidFill>
                <a:latin typeface="Microsoft YaHei"/>
              </a:rPr>
              <a:t/>
            </a:r>
            <a:r>
              <a:rPr sz="1300" b="1">
                <a:solidFill>
                  <a:srgbClr val="EAF0F6"/>
                </a:solidFill>
                <a:latin typeface="Microsoft YaHei"/>
              </a:rPr>
              <a:t>回放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304495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同一批模型输出可重放，把不确定性从实验里摘出去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3520440"/>
            <a:ext cx="4005072" cy="758952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26679" y="36301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F2B544"/>
                </a:solidFill>
                <a:latin typeface="Microsoft YaHei"/>
              </a:rPr>
              <a:t/>
            </a:r>
            <a:r>
              <a:rPr sz="1300" b="1">
                <a:solidFill>
                  <a:srgbClr val="F2B544"/>
                </a:solidFill>
                <a:latin typeface="Microsoft YaHei"/>
              </a:rPr>
              <a:t>锚点靶场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79" y="391363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45 个样本标定检查本身准不准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526280"/>
            <a:ext cx="10908792" cy="160020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35C48F"/>
                </a:solidFill>
                <a:latin typeface="Microsoft YaHei"/>
              </a:rPr>
              <a:t>靶场：45 个样本（30 注入 + 15 干净对照）</a:t>
            </a:r>
          </a:p>
          <a:p>
            <a:pPr algn="l">
              <a:spcBef>
                <a:spcPts val="800"/>
              </a:spcBef>
            </a:pPr>
            <a:r>
              <a:rPr sz="1800" b="1">
                <a:solidFill>
                  <a:srgbClr val="EAF0F6"/>
                </a:solidFill>
                <a:latin typeface="Microsoft YaHei"/>
              </a:rPr>
              <a:t>TP 30    FN 0    FP 0    TN 15    严重度不符 0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「干净通过率」比「检出率」更重要：一条会对好代码报警的检查，会让角色学会糊弄它 —— 此后所有真报都会被降权。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AgentForge · 多角色 AI 研发引擎 · 赛道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35C48F"/>
                </a:solidFill>
                <a:latin typeface="Microsoft YaHei"/>
              </a:rPr>
              <a:t/>
            </a:r>
            <a:r>
              <a:rPr sz="1300" b="1">
                <a:solidFill>
                  <a:srgbClr val="35C48F"/>
                </a:solidFill>
                <a:latin typeface="Microsoft YaHei"/>
              </a:rPr>
              <a:t>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EAF0F6"/>
                </a:solidFill>
                <a:latin typeface="Microsoft YaHei"/>
              </a:rPr>
              <a:t/>
            </a:r>
            <a:r>
              <a:rPr sz="3000" b="1">
                <a:solidFill>
                  <a:srgbClr val="EAF0F6"/>
                </a:solidFill>
                <a:latin typeface="Microsoft YaHei"/>
              </a:rPr>
              <a:t>已经做到的，和还没做到的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417320"/>
            <a:ext cx="10908792" cy="0"/>
          </a:xfrm>
          <a:prstGeom prst="line">
            <a:avLst/>
          </a:prstGeom>
          <a:ln w="12700">
            <a:solidFill>
              <a:srgbClr val="2B36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" y="1783080"/>
            <a:ext cx="5303520" cy="361188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137160"/>
          <a:lstStyle/>
          <a:p>
            <a:pPr algn="l">
              <a:spcBef>
                <a:spcPts val="0"/>
              </a:spcBef>
            </a:pPr>
            <a:r>
              <a:rPr sz="1600" b="1">
                <a:solidFill>
                  <a:srgbClr val="35C48F"/>
                </a:solidFill>
                <a:latin typeface="Microsoft YaHei"/>
              </a:rPr>
              <a:t>已经做到</a:t>
            </a:r>
          </a:p>
          <a:p>
            <a:pPr algn="l">
              <a:spcBef>
                <a:spcPts val="1400"/>
              </a:spcBef>
            </a:pPr>
            <a:r>
              <a:rPr sz="1300" b="0">
                <a:solidFill>
                  <a:srgbClr val="EAF0F6"/>
                </a:solidFill>
                <a:latin typeface="Microsoft YaHei"/>
              </a:rPr>
              <a:t>一个 AI 写出来、真的能跑的系统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单元测试 22 / 22，端到端 33 / 33，零依赖启动</a:t>
            </a:r>
          </a:p>
          <a:p>
            <a:pPr algn="l">
              <a:spcBef>
                <a:spcPts val="1000"/>
              </a:spcBef>
            </a:pPr>
            <a:r>
              <a:rPr sz="1300" b="0">
                <a:solidFill>
                  <a:srgbClr val="EAF0F6"/>
                </a:solidFill>
                <a:latin typeface="Microsoft YaHei"/>
              </a:rPr>
              <a:t>11 条确定性锚点 + 401 个测试守着「检查本身是对的」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靶场 45 样本零误报</a:t>
            </a:r>
          </a:p>
          <a:p>
            <a:pPr algn="l">
              <a:spcBef>
                <a:spcPts val="1000"/>
              </a:spcBef>
            </a:pPr>
            <a:r>
              <a:rPr sz="1300" b="0">
                <a:solidFill>
                  <a:srgbClr val="EAF0F6"/>
                </a:solidFill>
                <a:latin typeface="Microsoft YaHei"/>
              </a:rPr>
              <a:t>一条可复用的方法论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先让失败可见，再谈减少失败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783080"/>
            <a:ext cx="5303520" cy="361188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137160"/>
          <a:lstStyle/>
          <a:p>
            <a:pPr algn="l">
              <a:spcBef>
                <a:spcPts val="0"/>
              </a:spcBef>
            </a:pPr>
            <a:r>
              <a:rPr sz="1600" b="1">
                <a:solidFill>
                  <a:srgbClr val="F2B544"/>
                </a:solidFill>
                <a:latin typeface="Microsoft YaHei"/>
              </a:rPr>
              <a:t>还没做到（诚实）</a:t>
            </a:r>
          </a:p>
          <a:p>
            <a:pPr algn="l">
              <a:spcBef>
                <a:spcPts val="1400"/>
              </a:spcBef>
            </a:pPr>
            <a:r>
              <a:rPr sz="1300" b="0">
                <a:solidFill>
                  <a:srgbClr val="EAF0F6"/>
                </a:solidFill>
                <a:latin typeface="Microsoft YaHei"/>
              </a:rPr>
              <a:t>没有一次自主跑到最终交付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成功那轮在最后一道关卡之后进程被环境回收 —— 产品是好的，编排没结账</a:t>
            </a:r>
          </a:p>
          <a:p>
            <a:pPr algn="l">
              <a:spcBef>
                <a:spcPts val="1000"/>
              </a:spcBef>
            </a:pPr>
            <a:r>
              <a:rPr sz="1300" b="0">
                <a:solidFill>
                  <a:srgbClr val="EAF0F6"/>
                </a:solidFill>
                <a:latin typeface="Microsoft YaHei"/>
              </a:rPr>
              <a:t>四轮并行只成一，方差还大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卡点集中在契约生成质量</a:t>
            </a:r>
          </a:p>
          <a:p>
            <a:pPr algn="l">
              <a:spcBef>
                <a:spcPts val="1000"/>
              </a:spcBef>
            </a:pPr>
            <a:r>
              <a:rPr sz="1300" b="0">
                <a:solidFill>
                  <a:srgbClr val="EAF0F6"/>
                </a:solidFill>
                <a:latin typeface="Microsoft YaHei"/>
              </a:rPr>
              <a:t>B1 / B3 在成功那轮是 SKIPPED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SKIPPED ≠ PASS，所以我们不算它通过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623560"/>
            <a:ext cx="10908792" cy="530352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35C4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35C48F"/>
                </a:solidFill>
                <a:latin typeface="Microsoft YaHei"/>
              </a:rPr>
              <a:t>下面是它跑出来的真实系统，以及它在生成过程中自己报过的两个问题。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AgentForge · 多角色 AI 研发引擎 · 赛道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