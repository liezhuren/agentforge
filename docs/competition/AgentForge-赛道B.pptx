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109728" cy="1920240"/>
          </a:xfrm>
          <a:prstGeom prst="rect">
            <a:avLst/>
          </a:prstGeom>
          <a:solidFill>
            <a:srgbClr val="35C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7373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EAF0F6"/>
                </a:solidFill>
                <a:latin typeface="Microsoft YaHei"/>
              </a:rPr>
              <a:t/>
            </a:r>
            <a:r>
              <a:rPr sz="4400" b="1">
                <a:solidFill>
                  <a:srgbClr val="EAF0F6"/>
                </a:solidFill>
                <a:latin typeface="Microsoft YaHei"/>
              </a:rPr>
              <a:t>AgentForge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35C48F"/>
                </a:solidFill>
                <a:latin typeface="Microsoft YaHei"/>
              </a:rPr>
              <a:t>让「AI 说它做完了」变成能被机械证明的交付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7947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9AA7B4"/>
                </a:solidFill>
                <a:latin typeface="Microsoft YaHei"/>
              </a:rPr>
              <a:t/>
            </a:r>
            <a:r>
              <a:rPr sz="1500" b="0">
                <a:solidFill>
                  <a:srgbClr val="9AA7B4"/>
                </a:solidFill>
                <a:latin typeface="Microsoft YaHei"/>
              </a:rPr>
              <a:t>一个带确定性验收的多角色 AI 研发引擎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9AA7B4"/>
                </a:solidFill>
                <a:latin typeface="Microsoft YaHei"/>
              </a:rPr>
              <a:t>11 条锚点 · 5 个角色 · 8 个阶段 · 401 个测试 · 靶场零误报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92040"/>
            <a:ext cx="10908792" cy="960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>实跑结果（可复核）：AI 产出的茶歇系统 —— 单元测试 22 / 22，端到端验收 33 / 33，零第三方依赖即可启动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>产物：demo/coffeebreak/   ·   证据：docs/competition/evidence/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/>
            </a:r>
            <a:r>
              <a:rPr sz="1200" b="0">
                <a:solidFill>
                  <a:srgbClr val="9AA7B4"/>
                </a:solidFill>
                <a:latin typeface="Microsoft YaHei"/>
              </a:rPr>
              <a:t>刘泽 · B23040610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AI 编程的失败是「假绿灯」式的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看起来完整，实际跑不起来 —— 而工具自己不知道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25780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F2B544"/>
                </a:solidFill>
                <a:latin typeface="Microsoft YaHei"/>
              </a:rPr>
              <a:t>表面指标（工具说）</a:t>
            </a:r>
          </a:p>
          <a:p>
            <a:pPr algn="l">
              <a:spcBef>
                <a:spcPts val="14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18 个模块 / 4,443 行代码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tsc --noEmit 通过（编译没问题）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17 个契约端点「代码里全都实现了」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✓  写了 39 条测试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783080"/>
            <a:ext cx="525780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E86A5C"/>
                </a:solidFill>
                <a:latin typeface="Microsoft YaHei"/>
              </a:rPr>
              <a:t>真实结果（跑一下）</a:t>
            </a:r>
          </a:p>
          <a:p>
            <a:pPr algn="l">
              <a:spcBef>
                <a:spcPts val="14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12 个端点一律返回 HTTP 501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39 条测试里 26 条失败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业务模块一次都没被调用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EAF0F6"/>
                </a:solidFill>
                <a:latin typeface="Microsoft YaHei"/>
              </a:rPr>
              <a:t>✗  A7 锚点当时报「全部端点已实现」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70448" y="3154680"/>
            <a:ext cx="420624" cy="457200"/>
          </a:xfrm>
          <a:prstGeom prst="rightArrow">
            <a:avLst/>
          </a:prstGeom>
          <a:solidFill>
            <a:srgbClr val="2B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5193792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根子是一行代码：鉴权通过后直接 sendJson(res, 501, { error: 'not implemented yet' }) 然后 return —— 从不调用业务模块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>而 4 个 handleXxx() 全都「导出了、无人调用」。这是我自己跑出来的真实产物，不是编的例子。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实跑产物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先看东西：一个 AI 写出来、真的能跑的系统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demo/coffeebreak/ · 20 个 TypeScript 源文件 · 零第三方依赖（不装任何包就能启动）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b-6-ui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10512"/>
            <a:ext cx="6446520" cy="4029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12739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真实界面截图（headless 浏览器，1440×900）· 用 admin / admin123 登录后可见全部功能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783080"/>
            <a:ext cx="4187952" cy="1298448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35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可复核的验收结果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>22 / 22   单元 + 集成测试</a:t>
            </a:r>
          </a:p>
          <a:p>
            <a:pPr algn="l">
              <a:spcBef>
                <a:spcPts val="40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>33 / 33   真实 HTTP 端到端验收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18 / 18   任务书要求的论文属性（建→读回）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3172968"/>
            <a:ext cx="4187952" cy="20116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演示动线（3 分钟够走完）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① 注册 → 登录（Bearer 会话）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② 管理员建论文，18 项属性逐项落库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③ 评论 + 对评论的回复（父子结构）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④ 加好友 / 关注 / 设兴趣 → 推荐重排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⑤ 普通用户删论文 → 403（权限边界）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5285232"/>
            <a:ext cx="4187952" cy="960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35C48F"/>
                </a:solidFill>
                <a:latin typeface="Microsoft YaHei"/>
              </a:rPr>
              <a:t>生成成本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40–75 分钟 · 约 100 万 token · ≈ $1–2（吞吐 ~200 tok/s）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不是模型不行，是系统在让角色「盲写」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30 次调用、113 万 token，而每次调用的输入恒定在 10.6k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3657599"/>
            <a:ext cx="5577840" cy="0"/>
          </a:xfrm>
          <a:prstGeom prst="line">
            <a:avLst/>
          </a:prstGeom>
          <a:ln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85800" y="1874519"/>
            <a:ext cx="0" cy="1783080"/>
          </a:xfrm>
          <a:prstGeom prst="line">
            <a:avLst/>
          </a:prstGeom>
          <a:ln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20877" y="2634184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01774" y="2572561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964692" y="2616376"/>
            <a:ext cx="780897" cy="61623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482672" y="2424667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745589" y="2468482"/>
            <a:ext cx="780898" cy="147894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63569" y="2671157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526487" y="2468482"/>
            <a:ext cx="780897" cy="246490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44467" y="2658833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3307384" y="2702648"/>
            <a:ext cx="780898" cy="12324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25365" y="2695806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088282" y="2702648"/>
            <a:ext cx="780898" cy="36973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662041" y="2178176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4869180" y="2221991"/>
            <a:ext cx="836676" cy="517630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785615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/>
            </a:r>
            <a:r>
              <a:rPr sz="1100" b="0">
                <a:solidFill>
                  <a:srgbClr val="9AA7B4"/>
                </a:solidFill>
                <a:latin typeface="Microsoft YaHei"/>
              </a:rPr>
              <a:t>横轴：项目规模 0 → 4,443 行   ｜   纵轴：输入 token ≈ 10.6k（几乎不动）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87451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965959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86A5C"/>
                </a:solidFill>
                <a:latin typeface="Microsoft YaHei"/>
              </a:rPr>
              <a:t/>
            </a:r>
            <a:r>
              <a:rPr sz="2400" b="1">
                <a:solidFill>
                  <a:srgbClr val="E86A5C"/>
                </a:solidFill>
                <a:latin typeface="Microsoft YaHei"/>
              </a:rP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7" y="2029967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24,000 字符的上下文被「需求 + PRD + 任务图」吃掉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269747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2788919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86A5C"/>
                </a:solidFill>
                <a:latin typeface="Microsoft YaHei"/>
              </a:rPr>
              <a:t/>
            </a:r>
            <a:r>
              <a:rPr sz="2400" b="1">
                <a:solidFill>
                  <a:srgbClr val="E86A5C"/>
                </a:solidFill>
                <a:latin typeface="Microsoft YaHei"/>
              </a:rPr>
              <a:t>4.2%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7" y="2852927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54 万字符的工件里，真正送达模型的只有这么多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52043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3611879"/>
            <a:ext cx="1234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2B544"/>
                </a:solidFill>
                <a:latin typeface="Microsoft YaHei"/>
              </a:rPr>
              <a:t/>
            </a:r>
            <a:r>
              <a:rPr sz="2400" b="1">
                <a:solidFill>
                  <a:srgbClr val="F2B544"/>
                </a:solidFill>
                <a:latin typeface="Microsoft YaHei"/>
              </a:rPr>
              <a:t>2.2 :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675887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输出 / 输入 —— 每次都在从零重写，而不是修改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262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关键判据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契约（60,720 字符）整件丢失 → 后端照 PRD 散文自己发明接口；别人的代码一件没进 → 不可能接线；测试报告一件没进 → 连修 6 轮不收敛。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编排内核零 LLM，判断不可能被模型带偏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56816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9AA7B4"/>
                </a:solidFill>
                <a:latin typeface="Microsoft YaHei"/>
              </a:rPr>
              <a:t/>
            </a:r>
            <a:r>
              <a:rPr sz="1400" b="1">
                <a:solidFill>
                  <a:srgbClr val="9AA7B4"/>
                </a:solidFill>
                <a:latin typeface="Microsoft YaHei"/>
              </a:rPr>
              <a:t>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86537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CLI · Web 控制台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956816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cli-run.ts · server/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87752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761488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/>
            </a:r>
            <a:r>
              <a:rPr sz="1400" b="1">
                <a:solidFill>
                  <a:srgbClr val="35C48F"/>
                </a:solidFill>
                <a:latin typeface="Microsoft YaHei"/>
              </a:rPr>
              <a:t>编排层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670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8 阶段状态机 · 唯一 Gate · 账本 · 机械裁判 · 圆桌 · 逃生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761488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orchestrator/（零 LLM 调用）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92424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566160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/>
            </a:r>
            <a:r>
              <a:rPr sz="1400" b="1">
                <a:solidFill>
                  <a:srgbClr val="35C48F"/>
                </a:solidFill>
                <a:latin typeface="Microsoft YaHei"/>
              </a:rPr>
              <a:t>验收层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4747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A1–A8 事实锚（编译/测试/探针/契约/基准） · B1–B3 语义锚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66160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anchors/（LLM 提议 + 机械核验）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370832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/>
            </a:r>
            <a:r>
              <a:rPr sz="1400" b="1">
                <a:solidFill>
                  <a:srgbClr val="EAF0F6"/>
                </a:solidFill>
                <a:latin typeface="Microsoft YaHei"/>
              </a:rPr>
              <a:t>角色层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27939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pm · backend · frontend · test · host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370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roles/（上下文装配 + schema 门禁）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01768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175504"/>
            <a:ext cx="1143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9AA7B4"/>
                </a:solidFill>
                <a:latin typeface="Microsoft YaHei"/>
              </a:rPr>
              <a:t/>
            </a:r>
            <a:r>
              <a:rPr sz="1400" b="1">
                <a:solidFill>
                  <a:srgbClr val="9AA7B4"/>
                </a:solidFill>
                <a:latin typeface="Microsoft YaHei"/>
              </a:rPr>
              <a:t>能力层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08406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/>
            </a:r>
            <a:r>
              <a:rPr sz="1200" b="0">
                <a:solidFill>
                  <a:srgbClr val="EAF0F6"/>
                </a:solidFill>
                <a:latin typeface="Microsoft YaHei"/>
              </a:rPr>
              <a:t>Provider 抽象 · 录制回放 · 三层记忆 · 工件库 · 哈希链日志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175504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llm/ · memory/ · core/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783080"/>
            <a:ext cx="2450592" cy="35661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三个设计决定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① 编排里没有一次 LLM 调用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② SKIPPED ≠ PASS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③ 8 个阶段共用同一个 Gate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806440"/>
            <a:ext cx="10908792" cy="4572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零依赖：Node ≥ 24 原生执行 TypeScript，克隆即跑（401 个测试；CI 断言仓库根目录没有 node_modules）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Agent 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五个角色不直接对话，只传接口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谁能看到什么由代码强制，不靠提示词自律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E86A5C"/>
                </a:solidFill>
                <a:latin typeface="Microsoft YaHei"/>
              </a:rPr>
              <a:t>✗ 全文互传</a:t>
            </a:r>
          </a:p>
          <a:p>
            <a:pPr algn="l">
              <a:spcBef>
                <a:spcPts val="12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把全部源码堆进一个大上下文 =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把多角色系统退化成单一大上下文，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切分就白做了；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而且下一个更大的项目会再次溢出。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实测：11 个模块全文 = 20 万字符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3328" y="1783080"/>
            <a:ext cx="5495544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35C48F"/>
                </a:solidFill>
                <a:latin typeface="Microsoft YaHei"/>
              </a:rPr>
              <a:t>✓ 接口卡：只给导出签名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function handlePapersRoute(req: PapersRequest): PapersResponse | null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function listPapers(): PaperRecord[]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interface PaperRecord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35C48F"/>
                </a:solidFill>
                <a:latin typeface="Microsoft YaHei"/>
              </a:rPr>
              <a:t>实测：11 个模块的全部签名 ≈ 5 千字符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与全文相差 40 倍 —— 这是「只传接口」的量化价值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93792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六种通信通道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AF0F6"/>
                </a:solidFill>
                <a:latin typeface="Microsoft YaHei"/>
              </a:rPr>
              <a:t>工件库 · 读权限矩阵 · 契约（唯一必须送达）· 模块接口卡 · 工单 · 圆桌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5193792"/>
            <a:ext cx="5495544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五层配额（从「谁先谁得」改成「谁需要谁得」）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规格 → 执行事实 → 模块接口 → 代码全文 → 需求计划（关键三件保证送达）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异常处理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四层逃生，机械判定，保证不死锁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decideEscape() 的三个分支穷举了所有情况 —— 它一定返回一个可执行动作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0195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/>
            </a:r>
            <a:r>
              <a:rPr sz="1500" b="1">
                <a:solidFill>
                  <a:srgbClr val="35C48F"/>
                </a:solidFill>
                <a:latin typeface="Microsoft YaHei"/>
              </a:rPr>
              <a:t>① 打回返工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88366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能归因就先打回；一条都归不了因才开会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6712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便宜、确定、有明确验收条件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7980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2B544"/>
                </a:solidFill>
                <a:latin typeface="Microsoft YaHei"/>
              </a:rPr>
              <a:t/>
            </a:r>
            <a:r>
              <a:rPr sz="1500" b="1">
                <a:solidFill>
                  <a:srgbClr val="F2B544"/>
                </a:solidFill>
                <a:latin typeface="Microsoft YaHei"/>
              </a:rPr>
              <a:t>② 圆桌会议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77977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唯一允许 LLM 协商的地方（T1–T5）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只「归因完全失灵」才触发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69417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2B544"/>
                </a:solidFill>
                <a:latin typeface="Microsoft YaHei"/>
              </a:rPr>
              <a:t/>
            </a:r>
            <a:r>
              <a:rPr sz="1500" b="1">
                <a:solidFill>
                  <a:srgbClr val="F2B544"/>
                </a:solidFill>
                <a:latin typeface="Microsoft YaHei"/>
              </a:rPr>
              <a:t>③ 升级真人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6758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打包成仲裁包，人只需做一次决定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959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圆桌无有效决议时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714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5902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9AA7B4"/>
                </a:solidFill>
                <a:latin typeface="Microsoft YaHei"/>
              </a:rPr>
              <a:t/>
            </a:r>
            <a:r>
              <a:rPr sz="1500" b="1">
                <a:solidFill>
                  <a:srgbClr val="9AA7B4"/>
                </a:solidFill>
                <a:latin typeface="Microsoft YaHei"/>
              </a:rPr>
              <a:t>④ 带债通过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5720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/>
            </a:r>
            <a:r>
              <a:rPr sz="1100" b="0">
                <a:solidFill>
                  <a:srgbClr val="EAF0F6"/>
                </a:solidFill>
                <a:latin typeface="Microsoft YaHei"/>
              </a:rPr>
              <a:t>写 DebtRecord + 需求标 accepted_with_debt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5546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真人不可用时的最终出口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1783080"/>
            <a:ext cx="3913632" cy="3401568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>四个防空转机制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阻断 3 次后权限自动终止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否则两个 Agent 能互相否决到死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签名未变 → 不再开会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实测过某阶段连开 6 次圆桌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修复无效 → 直接转逃生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不重复付费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上下文超长 → 预算减半重试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不让一次 400 打死整轮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35C48F"/>
                </a:solidFill>
                <a:latin typeface="Microsoft YaHei"/>
              </a:rPr>
              <a:t>真实日志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[CONTRACTING] 工单修复后硬失败签名未变（pm 的修复没有改变任何东西），不再重复重试，转逃生流程 → 带债通过（受影响需求 3 条）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可观测性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能回答「它到底看到了什么」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/>
            </a:r>
            <a:r>
              <a:rPr sz="1400" b="0">
                <a:solidFill>
                  <a:srgbClr val="9AA7B4"/>
                </a:solidFill>
                <a:latin typeface="Microsoft YaHei"/>
              </a:rPr>
              <a:t>在这一行存在之前，「为什么它老是做不对」只能靠猜 —— 我们为此花了两小时复算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6675120" cy="25146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28016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run 日志里的输入审计（每次调用都记）</a:t>
            </a:r>
          </a:p>
          <a:p>
            <a:pPr algn="l">
              <a:spcBef>
                <a:spcPts val="12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上下文：23,177 / 60,000 字符（39%）  注入 3 个 · 丢弃 0 个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其中契约摘要 1 个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未注入：TaskGraph-001(15520·tier-cap)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injected[]: {id, kind, chars, digest? | card?}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omitted[]: {id, kind, chars, reason: tier-cap | no-space}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78308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8928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哈希链日志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17627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任何一条被改，链就断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65176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7614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/>
            </a:r>
            <a:r>
              <a:rPr sz="1300" b="1">
                <a:solidFill>
                  <a:srgbClr val="EAF0F6"/>
                </a:solidFill>
                <a:latin typeface="Microsoft YaHei"/>
              </a:rPr>
              <a:t>回放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04495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同一批模型输出可重放，把不确定性从实验里摘出去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52044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2B544"/>
                </a:solidFill>
                <a:latin typeface="Microsoft YaHei"/>
              </a:rPr>
              <a:t/>
            </a:r>
            <a:r>
              <a:rPr sz="1300" b="1">
                <a:solidFill>
                  <a:srgbClr val="F2B544"/>
                </a:solidFill>
                <a:latin typeface="Microsoft YaHei"/>
              </a:rPr>
              <a:t>锚点靶场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9136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45 个样本标定检查本身准不准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10908792" cy="16002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靶场：45 个样本（30 注入 + 15 干净对照）</a:t>
            </a:r>
          </a:p>
          <a:p>
            <a:pPr algn="l">
              <a:spcBef>
                <a:spcPts val="800"/>
              </a:spcBef>
            </a:pPr>
            <a:r>
              <a:rPr sz="1800" b="1">
                <a:solidFill>
                  <a:srgbClr val="EAF0F6"/>
                </a:solidFill>
                <a:latin typeface="Microsoft YaHei"/>
              </a:rPr>
              <a:t>TP 30    FN 0    FP 0    TN 15    严重度不符 0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「干净通过率」比「检出率」更重要：一条会对好代码报警的检查，会让角色学会糊弄它 —— 此后所有真报都会被降权。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/>
            </a:r>
            <a:r>
              <a:rPr sz="1300" b="1">
                <a:solidFill>
                  <a:srgbClr val="35C48F"/>
                </a:solidFill>
                <a:latin typeface="Microsoft YaHei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/>
            </a:r>
            <a:r>
              <a:rPr sz="3000" b="1">
                <a:solidFill>
                  <a:srgbClr val="EAF0F6"/>
                </a:solidFill>
                <a:latin typeface="Microsoft YaHei"/>
              </a:rPr>
              <a:t>已经做到的，和还没做到的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5303520" cy="36118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35C48F"/>
                </a:solidFill>
                <a:latin typeface="Microsoft YaHei"/>
              </a:rPr>
              <a:t>已经做到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一个 AI 写出来、真的能跑的系统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单元测试 22 / 22，端到端 33 / 33，零依赖启动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11 条确定性锚点 + 401 个测试守着「检查本身是对的」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靶场 45 样本零误报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一条可复用的方法论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先让失败可见，再谈减少失败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783080"/>
            <a:ext cx="5303520" cy="36118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37160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F2B544"/>
                </a:solidFill>
                <a:latin typeface="Microsoft YaHei"/>
              </a:rPr>
              <a:t>还没做到（诚实）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没有一次自主跑到最终交付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成功那轮在最后一道关卡之后进程被环境回收 —— 产品是好的，编排没结账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四轮并行只成一，方差还大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卡点集中在契约生成质量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B1 / B3 在成功那轮是 SKIPPED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SKIPPED ≠ PASS，所以我们不算它通过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908792" cy="5303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35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接下来是现场真实运行（3 分钟）—— 不播录屏，直接跑；产物与证据都在仓库里，可当场复核。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/>
            </a:r>
            <a:r>
              <a:rPr sz="1000" b="0">
                <a:solidFill>
                  <a:srgbClr val="9AA7B4"/>
                </a:solidFill>
                <a:latin typeface="Microsoft YaHe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