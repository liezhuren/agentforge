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5C48F"/>
                </a:solidFill>
                <a:latin typeface="Microsoft YaHei"/>
              </a:rPr>
              <a:t/>
            </a:r>
            <a:r>
              <a:rPr sz="1300" b="1">
                <a:solidFill>
                  <a:srgbClr val="35C48F"/>
                </a:solidFill>
                <a:latin typeface="Microsoft YaHei"/>
              </a:rP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EAF0F6"/>
                </a:solidFill>
                <a:latin typeface="Microsoft YaHei"/>
              </a:rPr>
              <a:t/>
            </a:r>
            <a:r>
              <a:rPr sz="3000" b="1">
                <a:solidFill>
                  <a:srgbClr val="EAF0F6"/>
                </a:solidFill>
                <a:latin typeface="Microsoft YaHei"/>
              </a:rPr>
              <a:t>AgentForge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9AA7B4"/>
                </a:solidFill>
                <a:latin typeface="Microsoft YaHei"/>
              </a:rPr>
              <a:t/>
            </a:r>
            <a:r>
              <a:rPr sz="1400" b="0">
                <a:solidFill>
                  <a:srgbClr val="9AA7B4"/>
                </a:solidFill>
                <a:latin typeface="Microsoft YaHei"/>
              </a:rPr>
              <a:t>让 AI 面对复杂任务时不跑偏、不走样、可被验证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2B36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78308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E86A5C"/>
                </a:solidFill>
                <a:latin typeface="Microsoft YaHei"/>
              </a:rPr>
              <a:t>解决什么问题</a:t>
            </a:r>
          </a:p>
          <a:p>
            <a:pPr algn="l">
              <a:spcBef>
                <a:spcPts val="1200"/>
              </a:spcBef>
            </a:pPr>
            <a:r>
              <a:rPr sz="1300" b="1">
                <a:solidFill>
                  <a:srgbClr val="EAF0F6"/>
                </a:solidFill>
                <a:latin typeface="Microsoft YaHei"/>
              </a:rPr>
              <a:t>① 上下文越长，目标偏移越严重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而复杂任务必然带来长上下文 —— 模型写着写着就忘了最初要什么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EAF0F6"/>
                </a:solidFill>
                <a:latin typeface="Microsoft YaHei"/>
              </a:rPr>
              <a:t>② 单次生成质量不稳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同一份需求两次生成，结果不一样 —— 无法复现，也无法回归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EAF0F6"/>
                </a:solidFill>
                <a:latin typeface="Microsoft YaHei"/>
              </a:rPr>
              <a:t>③ 生成结果难以验证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「看起来做完了」和「真的做完了」在代码库里长得几乎一样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8308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35C48F"/>
                </a:solidFill>
                <a:latin typeface="Microsoft YaHei"/>
              </a:rPr>
              <a:t>最终做出了什么</a:t>
            </a:r>
          </a:p>
          <a:p>
            <a:pPr algn="l">
              <a:spcBef>
                <a:spcPts val="1200"/>
              </a:spcBef>
            </a:pPr>
            <a:r>
              <a:rPr sz="1300" b="1">
                <a:solidFill>
                  <a:srgbClr val="EAF0F6"/>
                </a:solidFill>
                <a:latin typeface="Microsoft YaHei"/>
              </a:rPr>
              <a:t>一个多角色研发引擎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8 个阶段 · 11 条确定性锚点 · LLM 只负责产出，永远不是最终裁判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EAF0F6"/>
                </a:solidFill>
                <a:latin typeface="Microsoft YaHei"/>
              </a:rPr>
              <a:t>产物 A：可运行的系统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茶歇系统 22 / 22 测试、33 / 33 端到端，零依赖即可启动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EAF0F6"/>
                </a:solidFill>
                <a:latin typeface="Microsoft YaHei"/>
              </a:rPr>
              <a:t>产物 B：可复核的交付结论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14/14 与 22/22 条需求逐条确认达成，fullyVerified = true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73168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35C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35C48F"/>
                </a:solidFill>
                <a:latin typeface="Microsoft YaHei"/>
              </a:rPr>
              <a:t>真实大模型完整交付 ×2（14/14 与 22/22 需求达成）· 每次 7 个门禁 · 两次打回都被修好 · 0 技术债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凭证：docs/competition/evidence/brief-s3/（verdict / gates / decisions / 调用记录）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7044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9AA7B4"/>
                </a:solidFill>
                <a:latin typeface="Microsoft YaHei"/>
              </a:rPr>
              <a:t/>
            </a:r>
            <a:r>
              <a:rPr sz="1200" b="0">
                <a:solidFill>
                  <a:srgbClr val="9AA7B4"/>
                </a:solidFill>
                <a:latin typeface="Microsoft YaHei"/>
              </a:rPr>
              <a:t>刘泽 · B23040610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5C48F"/>
                </a:solidFill>
                <a:latin typeface="Microsoft YaHei"/>
              </a:rPr>
              <a:t/>
            </a:r>
            <a:r>
              <a:rPr sz="1300" b="1">
                <a:solidFill>
                  <a:srgbClr val="35C48F"/>
                </a:solidFill>
                <a:latin typeface="Microsoft YaHei"/>
              </a:rPr>
              <a:t>问题与目标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EAF0F6"/>
                </a:solidFill>
                <a:latin typeface="Microsoft YaHei"/>
              </a:rPr>
              <a:t/>
            </a:r>
            <a:r>
              <a:rPr sz="3000" b="1">
                <a:solidFill>
                  <a:srgbClr val="EAF0F6"/>
                </a:solidFill>
                <a:latin typeface="Microsoft YaHei"/>
              </a:rPr>
              <a:t>AI 生成的两个本质问题：随机，且难验证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9AA7B4"/>
                </a:solidFill>
                <a:latin typeface="Microsoft YaHei"/>
              </a:rPr>
              <a:t/>
            </a:r>
            <a:r>
              <a:rPr sz="1400" b="0">
                <a:solidFill>
                  <a:srgbClr val="9AA7B4"/>
                </a:solidFill>
                <a:latin typeface="Microsoft YaHei"/>
              </a:rPr>
              <a:t>真正的瓶颈不是「能不能生成」，而是「敢不敢把它交付出去」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2B36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783080"/>
            <a:ext cx="5349240" cy="315468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E86A5C"/>
                </a:solidFill>
                <a:latin typeface="Microsoft YaHei"/>
              </a:rPr>
              <a:t>为什么值得解决</a:t>
            </a:r>
          </a:p>
          <a:p>
            <a:pPr algn="l">
              <a:spcBef>
                <a:spcPts val="1200"/>
              </a:spcBef>
            </a:pPr>
            <a:r>
              <a:rPr sz="1300" b="1">
                <a:solidFill>
                  <a:srgbClr val="EAF0F6"/>
                </a:solidFill>
                <a:latin typeface="Microsoft YaHei"/>
              </a:rPr>
              <a:t>随机性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同一需求两次生成结果不同 —— 无法复现、无法回归、也无法承诺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EAF0F6"/>
                </a:solidFill>
                <a:latin typeface="Microsoft YaHei"/>
              </a:rPr>
              <a:t>难验证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模型说「完成了」，但编译、测试、真实运行都可能不成立；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2B544"/>
                </a:solidFill>
                <a:latin typeface="Microsoft YaHei"/>
              </a:rPr>
              <a:t>而用另一个 LLM 去验证，等于让被告当法官</a:t>
            </a:r>
          </a:p>
          <a:p>
            <a:pPr algn="l">
              <a:spcBef>
                <a:spcPts val="1000"/>
              </a:spcBef>
            </a:pPr>
            <a:r>
              <a:rPr sz="1200" b="1">
                <a:solidFill>
                  <a:srgbClr val="EAF0F6"/>
                </a:solidFill>
                <a:latin typeface="Microsoft YaHei"/>
              </a:rPr>
              <a:t>实测反例（我们自己的产物）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>4,443 行代码 · tsc 通过 · 39 条测试 —— 12 个端点却一律返回 501，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>而当时的检查报「17 个端点全部已实现」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83080"/>
            <a:ext cx="5349240" cy="315468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35C48F"/>
                </a:solidFill>
                <a:latin typeface="Microsoft YaHei"/>
              </a:rPr>
              <a:t>成功标准（可判定，不靠主观）</a:t>
            </a:r>
          </a:p>
          <a:p>
            <a:pPr algn="l">
              <a:spcBef>
                <a:spcPts val="1200"/>
              </a:spcBef>
            </a:pPr>
            <a:r>
              <a:rPr sz="1300" b="1">
                <a:solidFill>
                  <a:srgbClr val="EAF0F6"/>
                </a:solidFill>
                <a:latin typeface="Microsoft YaHei"/>
              </a:rPr>
              <a:t>① 机械层全过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编译通过 · 测试真跑且全绿 · 服务真启动并响应 HTTP 探针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EAF0F6"/>
                </a:solidFill>
                <a:latin typeface="Microsoft YaHei"/>
              </a:rPr>
              <a:t>② 需求层逐条判定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每条需求的判定必须附真实文件与真实行号区间；编造证据 → 整条作废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EAF0F6"/>
                </a:solidFill>
                <a:latin typeface="Microsoft YaHei"/>
              </a:rPr>
              <a:t>③ 不许自我满足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空交付 / SKIPPED / 带债 都必须显式记账，且都不算「通过」</a:t>
            </a:r>
          </a:p>
          <a:p>
            <a:pPr algn="l">
              <a:spcBef>
                <a:spcPts val="1200"/>
              </a:spcBef>
            </a:pPr>
            <a:r>
              <a:rPr sz="1200" b="1">
                <a:solidFill>
                  <a:srgbClr val="35C48F"/>
                </a:solidFill>
                <a:latin typeface="Microsoft YaHei"/>
              </a:rPr>
              <a:t>三条同时满足 = fullyVerified（真·完整交付）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74920"/>
            <a:ext cx="10908792" cy="82296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5C48F"/>
                </a:solidFill>
                <a:latin typeface="Microsoft YaHei"/>
              </a:rPr>
              <a:t>这条标准不是口号 —— 同一套判据，刚刚用出两个相反结果：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① 认证了两次真交付（14/14、22/22 + fullyVerified）　② 拦下了一次空交付（只有规格、零代码，被判 fail）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AgentForge · 多角色 AI 研发引擎 · 赛道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5C48F"/>
                </a:solidFill>
                <a:latin typeface="Microsoft YaHei"/>
              </a:rPr>
              <a:t/>
            </a:r>
            <a:r>
              <a:rPr sz="1300" b="1">
                <a:solidFill>
                  <a:srgbClr val="35C48F"/>
                </a:solidFill>
                <a:latin typeface="Microsoft YaHei"/>
              </a:rPr>
              <a:t>实跑产物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EAF0F6"/>
                </a:solidFill>
                <a:latin typeface="Microsoft YaHei"/>
              </a:rPr>
              <a:t/>
            </a:r>
            <a:r>
              <a:rPr sz="3000" b="1">
                <a:solidFill>
                  <a:srgbClr val="EAF0F6"/>
                </a:solidFill>
                <a:latin typeface="Microsoft YaHei"/>
              </a:rPr>
              <a:t>先看东西：一个 AI 写出来、真的能跑的系统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9AA7B4"/>
                </a:solidFill>
                <a:latin typeface="Microsoft YaHei"/>
              </a:rPr>
              <a:t/>
            </a:r>
            <a:r>
              <a:rPr sz="1400" b="0">
                <a:solidFill>
                  <a:srgbClr val="9AA7B4"/>
                </a:solidFill>
                <a:latin typeface="Microsoft YaHei"/>
              </a:rPr>
              <a:t>demo/coffeebreak/ · 20 个 TypeScript 源文件 · 零第三方依赖（不装任何包就能启动）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2B36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cb-6-ui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0512"/>
            <a:ext cx="6446520" cy="402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12739"/>
            <a:ext cx="6446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真实界面截图（headless 浏览器，1440×900）· 20 个 TypeScript 源文件 · 22/22 测试 · 33/33 端到端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783080"/>
            <a:ext cx="4187952" cy="1298448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35C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5C48F"/>
                </a:solidFill>
                <a:latin typeface="Microsoft YaHei"/>
              </a:rPr>
              <a:t>可复核的验收结果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EAF0F6"/>
                </a:solidFill>
                <a:latin typeface="Microsoft YaHei"/>
              </a:rPr>
              <a:t>22 / 22   单元 + 集成测试</a:t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EAF0F6"/>
                </a:solidFill>
                <a:latin typeface="Microsoft YaHei"/>
              </a:rPr>
              <a:t>33 / 33   真实 HTTP 端到端验收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AF0F6"/>
                </a:solidFill>
                <a:latin typeface="Microsoft YaHei"/>
              </a:rPr>
              <a:t>18 / 18   任务书要求的论文属性（建→读回）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172968"/>
            <a:ext cx="4187952" cy="201168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5C48F"/>
                </a:solidFill>
                <a:latin typeface="Microsoft YaHei"/>
              </a:rPr>
              <a:t>演示动线（3 分钟够走完）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① 注册 → 登录（Bearer 会话）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② 管理员建论文，18 项属性逐项落库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③ 评论 + 对评论的回复（父子结构）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④ 加好友 / 关注 / 设兴趣 → 推荐重排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⑤ 普通用户删论文 → 403（权限边界）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5285232"/>
            <a:ext cx="4187952" cy="96012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35C48F"/>
                </a:solidFill>
                <a:latin typeface="Microsoft YaHei"/>
              </a:rPr>
              <a:t>生成成本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>40–75 分钟 · 约 100 万 token · ≈ $1–2（吞吐 ~200 tok/s）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AgentForge · 多角色 AI 研发引擎 · 赛道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5C48F"/>
                </a:solidFill>
                <a:latin typeface="Microsoft YaHei"/>
              </a:rPr>
              <a:t/>
            </a:r>
            <a:r>
              <a:rPr sz="1300" b="1">
                <a:solidFill>
                  <a:srgbClr val="35C48F"/>
                </a:solidFill>
                <a:latin typeface="Microsoft YaHei"/>
              </a:rPr>
              <a:t>根因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EAF0F6"/>
                </a:solidFill>
                <a:latin typeface="Microsoft YaHei"/>
              </a:rPr>
              <a:t/>
            </a:r>
            <a:r>
              <a:rPr sz="3000" b="1">
                <a:solidFill>
                  <a:srgbClr val="EAF0F6"/>
                </a:solidFill>
                <a:latin typeface="Microsoft YaHei"/>
              </a:rPr>
              <a:t>不是模型不行，是系统在让角色「盲写」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9AA7B4"/>
                </a:solidFill>
                <a:latin typeface="Microsoft YaHei"/>
              </a:rPr>
              <a:t/>
            </a:r>
            <a:r>
              <a:rPr sz="1400" b="0">
                <a:solidFill>
                  <a:srgbClr val="9AA7B4"/>
                </a:solidFill>
                <a:latin typeface="Microsoft YaHei"/>
              </a:rPr>
              <a:t>30 次调用、113 万 token，而每次调用的输入恒定在 10.6k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2B36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5800" y="3657599"/>
            <a:ext cx="5577840" cy="0"/>
          </a:xfrm>
          <a:prstGeom prst="line">
            <a:avLst/>
          </a:prstGeom>
          <a:ln>
            <a:solidFill>
              <a:srgbClr val="2B36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85800" y="1874519"/>
            <a:ext cx="0" cy="1783080"/>
          </a:xfrm>
          <a:prstGeom prst="line">
            <a:avLst/>
          </a:prstGeom>
          <a:ln>
            <a:solidFill>
              <a:srgbClr val="2B36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0877" y="2634184"/>
            <a:ext cx="87630" cy="87630"/>
          </a:xfrm>
          <a:prstGeom prst="ellipse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01774" y="2572561"/>
            <a:ext cx="87630" cy="87630"/>
          </a:xfrm>
          <a:prstGeom prst="ellipse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964692" y="2616376"/>
            <a:ext cx="780897" cy="61623"/>
          </a:xfrm>
          <a:prstGeom prst="line">
            <a:avLst/>
          </a:prstGeom>
          <a:ln w="15875">
            <a:solidFill>
              <a:srgbClr val="E86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482672" y="2424667"/>
            <a:ext cx="87630" cy="87630"/>
          </a:xfrm>
          <a:prstGeom prst="ellipse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1745589" y="2468482"/>
            <a:ext cx="780898" cy="147894"/>
          </a:xfrm>
          <a:prstGeom prst="line">
            <a:avLst/>
          </a:prstGeom>
          <a:ln w="15875">
            <a:solidFill>
              <a:srgbClr val="E86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263569" y="2671157"/>
            <a:ext cx="87630" cy="87630"/>
          </a:xfrm>
          <a:prstGeom prst="ellipse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526487" y="2468482"/>
            <a:ext cx="780897" cy="246490"/>
          </a:xfrm>
          <a:prstGeom prst="line">
            <a:avLst/>
          </a:prstGeom>
          <a:ln w="15875">
            <a:solidFill>
              <a:srgbClr val="E86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44467" y="2658833"/>
            <a:ext cx="87630" cy="87630"/>
          </a:xfrm>
          <a:prstGeom prst="ellipse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3307384" y="2702648"/>
            <a:ext cx="780898" cy="12324"/>
          </a:xfrm>
          <a:prstGeom prst="line">
            <a:avLst/>
          </a:prstGeom>
          <a:ln w="15875">
            <a:solidFill>
              <a:srgbClr val="E86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825365" y="2695806"/>
            <a:ext cx="87630" cy="87630"/>
          </a:xfrm>
          <a:prstGeom prst="ellipse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088282" y="2702648"/>
            <a:ext cx="780898" cy="36973"/>
          </a:xfrm>
          <a:prstGeom prst="line">
            <a:avLst/>
          </a:prstGeom>
          <a:ln w="15875">
            <a:solidFill>
              <a:srgbClr val="E86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662041" y="2178176"/>
            <a:ext cx="87630" cy="87630"/>
          </a:xfrm>
          <a:prstGeom prst="ellipse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4869180" y="2221991"/>
            <a:ext cx="836676" cy="517630"/>
          </a:xfrm>
          <a:prstGeom prst="line">
            <a:avLst/>
          </a:prstGeom>
          <a:ln w="15875">
            <a:solidFill>
              <a:srgbClr val="E86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3785615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/>
            </a:r>
            <a:r>
              <a:rPr sz="1100" b="0">
                <a:solidFill>
                  <a:srgbClr val="9AA7B4"/>
                </a:solidFill>
                <a:latin typeface="Microsoft YaHei"/>
              </a:rPr>
              <a:t>横轴：项目规模 0 → 4,443 行   ｜   纵轴：输入 token ≈ 10.6k（几乎不动）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874519"/>
            <a:ext cx="5102352" cy="713232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965959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E86A5C"/>
                </a:solidFill>
                <a:latin typeface="Microsoft YaHei"/>
              </a:rPr>
              <a:t/>
            </a:r>
            <a:r>
              <a:rPr sz="2400" b="1">
                <a:solidFill>
                  <a:srgbClr val="E86A5C"/>
                </a:solidFill>
                <a:latin typeface="Microsoft YaHei"/>
              </a:rPr>
              <a:t>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7" y="2029967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/>
            </a:r>
            <a:r>
              <a:rPr sz="1100" b="0">
                <a:solidFill>
                  <a:srgbClr val="EAF0F6"/>
                </a:solidFill>
                <a:latin typeface="Microsoft YaHei"/>
              </a:rPr>
              <a:t>24,000 字符的上下文被「需求 + PRD + 任务图」吃掉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2697479"/>
            <a:ext cx="5102352" cy="713232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788919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E86A5C"/>
                </a:solidFill>
                <a:latin typeface="Microsoft YaHei"/>
              </a:rPr>
              <a:t/>
            </a:r>
            <a:r>
              <a:rPr sz="2400" b="1">
                <a:solidFill>
                  <a:srgbClr val="E86A5C"/>
                </a:solidFill>
                <a:latin typeface="Microsoft YaHei"/>
              </a:rPr>
              <a:t>4.2%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2852927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/>
            </a:r>
            <a:r>
              <a:rPr sz="1100" b="0">
                <a:solidFill>
                  <a:srgbClr val="EAF0F6"/>
                </a:solidFill>
                <a:latin typeface="Microsoft YaHei"/>
              </a:rPr>
              <a:t>54 万字符的工件里，真正送达模型的只有这么多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520439"/>
            <a:ext cx="5102352" cy="713232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611879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F2B544"/>
                </a:solidFill>
                <a:latin typeface="Microsoft YaHei"/>
              </a:rPr>
              <a:t/>
            </a:r>
            <a:r>
              <a:rPr sz="2400" b="1">
                <a:solidFill>
                  <a:srgbClr val="F2B544"/>
                </a:solidFill>
                <a:latin typeface="Microsoft YaHei"/>
              </a:rPr>
              <a:t>2.2 :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3675887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/>
            </a:r>
            <a:r>
              <a:rPr sz="1100" b="0">
                <a:solidFill>
                  <a:srgbClr val="EAF0F6"/>
                </a:solidFill>
                <a:latin typeface="Microsoft YaHei"/>
              </a:rPr>
              <a:t>输出 / 输入 —— 每次都在从零重写，而不是修改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52628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5C48F"/>
                </a:solidFill>
                <a:latin typeface="Microsoft YaHei"/>
              </a:rPr>
              <a:t>关键判据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EAF0F6"/>
                </a:solidFill>
                <a:latin typeface="Microsoft YaHei"/>
              </a:rPr>
              <a:t>契约（60,720 字符）整件丢失 → 后端照 PRD 散文自己发明接口；别人的代码一件没进 → 不可能接线；测试报告一件没进 → 连修 6 轮不收敛。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AgentForge · 多角色 AI 研发引擎 · 赛道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5C48F"/>
                </a:solidFill>
                <a:latin typeface="Microsoft YaHei"/>
              </a:rPr>
              <a:t/>
            </a:r>
            <a:r>
              <a:rPr sz="1300" b="1">
                <a:solidFill>
                  <a:srgbClr val="35C48F"/>
                </a:solidFill>
                <a:latin typeface="Microsoft YaHei"/>
              </a:rPr>
              <a:t>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EAF0F6"/>
                </a:solidFill>
                <a:latin typeface="Microsoft YaHei"/>
              </a:rPr>
              <a:t/>
            </a:r>
            <a:r>
              <a:rPr sz="3000" b="1">
                <a:solidFill>
                  <a:srgbClr val="EAF0F6"/>
                </a:solidFill>
                <a:latin typeface="Microsoft YaHei"/>
              </a:rPr>
              <a:t>编排内核零 LLM，判断不可能被模型带偏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2B36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783080"/>
            <a:ext cx="8275320" cy="713232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56816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9AA7B4"/>
                </a:solidFill>
                <a:latin typeface="Microsoft YaHei"/>
              </a:rPr>
              <a:t/>
            </a:r>
            <a:r>
              <a:rPr sz="1400" b="1">
                <a:solidFill>
                  <a:srgbClr val="9AA7B4"/>
                </a:solidFill>
                <a:latin typeface="Microsoft YaHei"/>
              </a:rPr>
              <a:t>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865376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EAF0F6"/>
                </a:solidFill>
                <a:latin typeface="Microsoft YaHei"/>
              </a:rPr>
              <a:t/>
            </a:r>
            <a:r>
              <a:rPr sz="1200" b="0">
                <a:solidFill>
                  <a:srgbClr val="EAF0F6"/>
                </a:solidFill>
                <a:latin typeface="Microsoft YaHei"/>
              </a:rPr>
              <a:t>CLI · Web 控制台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956816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cli-run.ts · server/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87752"/>
            <a:ext cx="8275320" cy="713232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76148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35C48F"/>
                </a:solidFill>
                <a:latin typeface="Microsoft YaHei"/>
              </a:rPr>
              <a:t/>
            </a:r>
            <a:r>
              <a:rPr sz="1400" b="1">
                <a:solidFill>
                  <a:srgbClr val="35C48F"/>
                </a:solidFill>
                <a:latin typeface="Microsoft YaHei"/>
              </a:rPr>
              <a:t>编排层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67004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EAF0F6"/>
                </a:solidFill>
                <a:latin typeface="Microsoft YaHei"/>
              </a:rPr>
              <a:t/>
            </a:r>
            <a:r>
              <a:rPr sz="1200" b="0">
                <a:solidFill>
                  <a:srgbClr val="EAF0F6"/>
                </a:solidFill>
                <a:latin typeface="Microsoft YaHei"/>
              </a:rPr>
              <a:t>8 阶段状态机 · 唯一 Gate · 账本 · 机械裁判 · 圆桌 · 逃生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76148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orchestrator/（零 LLM 调用）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92424"/>
            <a:ext cx="8275320" cy="713232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566160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35C48F"/>
                </a:solidFill>
                <a:latin typeface="Microsoft YaHei"/>
              </a:rPr>
              <a:t/>
            </a:r>
            <a:r>
              <a:rPr sz="1400" b="1">
                <a:solidFill>
                  <a:srgbClr val="35C48F"/>
                </a:solidFill>
                <a:latin typeface="Microsoft YaHei"/>
              </a:rPr>
              <a:t>验收层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47472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EAF0F6"/>
                </a:solidFill>
                <a:latin typeface="Microsoft YaHei"/>
              </a:rPr>
              <a:t/>
            </a:r>
            <a:r>
              <a:rPr sz="1200" b="0">
                <a:solidFill>
                  <a:srgbClr val="EAF0F6"/>
                </a:solidFill>
                <a:latin typeface="Microsoft YaHei"/>
              </a:rPr>
              <a:t>A1–A8 事实锚（编译/测试/探针/契约/基准） · B1–B3 语义锚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566160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anchors/（LLM 提议 + 机械核验）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97096"/>
            <a:ext cx="8275320" cy="713232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370832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EAF0F6"/>
                </a:solidFill>
                <a:latin typeface="Microsoft YaHei"/>
              </a:rPr>
              <a:t/>
            </a:r>
            <a:r>
              <a:rPr sz="1400" b="1">
                <a:solidFill>
                  <a:srgbClr val="EAF0F6"/>
                </a:solidFill>
                <a:latin typeface="Microsoft YaHei"/>
              </a:rPr>
              <a:t>角色层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279392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EAF0F6"/>
                </a:solidFill>
                <a:latin typeface="Microsoft YaHei"/>
              </a:rPr>
              <a:t/>
            </a:r>
            <a:r>
              <a:rPr sz="1200" b="0">
                <a:solidFill>
                  <a:srgbClr val="EAF0F6"/>
                </a:solidFill>
                <a:latin typeface="Microsoft YaHei"/>
              </a:rPr>
              <a:t>pm · backend · frontend · test ·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370832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roles/（上下文装配 + schema 门禁）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01768"/>
            <a:ext cx="8275320" cy="713232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17550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9AA7B4"/>
                </a:solidFill>
                <a:latin typeface="Microsoft YaHei"/>
              </a:rPr>
              <a:t/>
            </a:r>
            <a:r>
              <a:rPr sz="1400" b="1">
                <a:solidFill>
                  <a:srgbClr val="9AA7B4"/>
                </a:solidFill>
                <a:latin typeface="Microsoft YaHei"/>
              </a:rPr>
              <a:t>能力层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084064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EAF0F6"/>
                </a:solidFill>
                <a:latin typeface="Microsoft YaHei"/>
              </a:rPr>
              <a:t/>
            </a:r>
            <a:r>
              <a:rPr sz="1200" b="0">
                <a:solidFill>
                  <a:srgbClr val="EAF0F6"/>
                </a:solidFill>
                <a:latin typeface="Microsoft YaHei"/>
              </a:rPr>
              <a:t>Provider 抽象 · 录制回放 · 三层记忆 · 工件库 · 哈希链日志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175504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llm/ · memory/ · core/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783080"/>
            <a:ext cx="2450592" cy="356616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5C48F"/>
                </a:solidFill>
                <a:latin typeface="Microsoft YaHei"/>
              </a:rPr>
              <a:t>三个设计决定</a:t>
            </a:r>
          </a:p>
          <a:p>
            <a:pPr algn="l">
              <a:spcBef>
                <a:spcPts val="12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① 编排里没有一次 LLM 调用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② SKIPPED ≠ PASS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③ 8 个阶段共用同一个 Gate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806440"/>
            <a:ext cx="10908792" cy="45720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零依赖：Node ≥ 24 原生执行 TypeScript，克隆即跑（401 个测试；CI 断言仓库根目录没有 node_modules）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AgentForge · 多角色 AI 研发引擎 · 赛道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5C48F"/>
                </a:solidFill>
                <a:latin typeface="Microsoft YaHei"/>
              </a:rPr>
              <a:t/>
            </a:r>
            <a:r>
              <a:rPr sz="1300" b="1">
                <a:solidFill>
                  <a:srgbClr val="35C48F"/>
                </a:solidFill>
                <a:latin typeface="Microsoft YaHei"/>
              </a:rPr>
              <a:t>Agent 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EAF0F6"/>
                </a:solidFill>
                <a:latin typeface="Microsoft YaHei"/>
              </a:rPr>
              <a:t/>
            </a:r>
            <a:r>
              <a:rPr sz="3000" b="1">
                <a:solidFill>
                  <a:srgbClr val="EAF0F6"/>
                </a:solidFill>
                <a:latin typeface="Microsoft YaHei"/>
              </a:rPr>
              <a:t>五个角色不直接对话，只传接口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9AA7B4"/>
                </a:solidFill>
                <a:latin typeface="Microsoft YaHei"/>
              </a:rPr>
              <a:t/>
            </a:r>
            <a:r>
              <a:rPr sz="1400" b="0">
                <a:solidFill>
                  <a:srgbClr val="9AA7B4"/>
                </a:solidFill>
                <a:latin typeface="Microsoft YaHei"/>
              </a:rPr>
              <a:t>谁能看到什么由代码强制，不靠提示词自律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2B36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783080"/>
            <a:ext cx="5120640" cy="324612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E86A5C"/>
                </a:solidFill>
                <a:latin typeface="Microsoft YaHei"/>
              </a:rPr>
              <a:t>✗ 全文互传</a:t>
            </a:r>
          </a:p>
          <a:p>
            <a:pPr algn="l">
              <a:spcBef>
                <a:spcPts val="1200"/>
              </a:spcBef>
            </a:pPr>
            <a:r>
              <a:rPr sz="1200" b="0">
                <a:solidFill>
                  <a:srgbClr val="EAF0F6"/>
                </a:solidFill>
                <a:latin typeface="Microsoft YaHei"/>
              </a:rPr>
              <a:t>把全部源码堆进一个大上下文 =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AF0F6"/>
                </a:solidFill>
                <a:latin typeface="Microsoft YaHei"/>
              </a:rPr>
              <a:t>把多角色系统退化成单一大上下文，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AF0F6"/>
                </a:solidFill>
                <a:latin typeface="Microsoft YaHei"/>
              </a:rPr>
              <a:t>切分就白做了；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AF0F6"/>
                </a:solidFill>
                <a:latin typeface="Microsoft YaHei"/>
              </a:rPr>
              <a:t>而且下一个更大的项目会再次溢出。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实测：11 个模块全文 = 20 万字符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1783080"/>
            <a:ext cx="5495544" cy="324612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35C48F"/>
                </a:solidFill>
                <a:latin typeface="Microsoft YaHei"/>
              </a:rPr>
              <a:t>✓ 接口卡：只给导出签名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export function handlePapersRoute(req: PapersRequest): PapersResponse | null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export function listPapers(): PaperRecord[]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export interface PaperRecord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35C48F"/>
                </a:solidFill>
                <a:latin typeface="Microsoft YaHei"/>
              </a:rPr>
              <a:t>实测：11 个模块的全部签名 ≈ 5 千字符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与全文相差 40 倍 —— 这是「只传接口」的量化价值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193792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5C48F"/>
                </a:solidFill>
                <a:latin typeface="Microsoft YaHei"/>
              </a:rPr>
              <a:t>六种通信通道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EAF0F6"/>
                </a:solidFill>
                <a:latin typeface="Microsoft YaHei"/>
              </a:rPr>
              <a:t>工件库 · 读权限矩阵 · 契约（唯一必须送达）· 模块接口卡 · 工单 · 圆桌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5193792"/>
            <a:ext cx="5495544" cy="105156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5C48F"/>
                </a:solidFill>
                <a:latin typeface="Microsoft YaHei"/>
              </a:rPr>
              <a:t>五层配额（从「谁先谁得」改成「谁需要谁得」）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规格 → 执行事实 → 模块接口 → 代码全文 → 需求计划（关键三件保证送达）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AgentForge · 多角色 AI 研发引擎 · 赛道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5C48F"/>
                </a:solidFill>
                <a:latin typeface="Microsoft YaHei"/>
              </a:rPr>
              <a:t/>
            </a:r>
            <a:r>
              <a:rPr sz="1300" b="1">
                <a:solidFill>
                  <a:srgbClr val="35C48F"/>
                </a:solidFill>
                <a:latin typeface="Microsoft YaHei"/>
              </a:rPr>
              <a:t>异常处理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EAF0F6"/>
                </a:solidFill>
                <a:latin typeface="Microsoft YaHei"/>
              </a:rPr>
              <a:t/>
            </a:r>
            <a:r>
              <a:rPr sz="3000" b="1">
                <a:solidFill>
                  <a:srgbClr val="EAF0F6"/>
                </a:solidFill>
                <a:latin typeface="Microsoft YaHei"/>
              </a:rPr>
              <a:t>四层逃生，机械判定，保证不死锁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9AA7B4"/>
                </a:solidFill>
                <a:latin typeface="Microsoft YaHei"/>
              </a:rPr>
              <a:t/>
            </a:r>
            <a:r>
              <a:rPr sz="1400" b="0">
                <a:solidFill>
                  <a:srgbClr val="9AA7B4"/>
                </a:solidFill>
                <a:latin typeface="Microsoft YaHei"/>
              </a:rPr>
              <a:t>decideEscape() 的三个分支穷举了所有情况 —— 它一定返回一个可执行动作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2B36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783080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019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35C48F"/>
                </a:solidFill>
                <a:latin typeface="Microsoft YaHei"/>
              </a:rPr>
              <a:t/>
            </a:r>
            <a:r>
              <a:rPr sz="1500" b="1">
                <a:solidFill>
                  <a:srgbClr val="35C48F"/>
                </a:solidFill>
                <a:latin typeface="Microsoft YaHei"/>
              </a:rPr>
              <a:t>① 打回返工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8836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/>
            </a:r>
            <a:r>
              <a:rPr sz="1100" b="0">
                <a:solidFill>
                  <a:srgbClr val="EAF0F6"/>
                </a:solidFill>
                <a:latin typeface="Microsoft YaHei"/>
              </a:rPr>
              <a:t>能归因就先打回；一条都归不了因才开会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671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便宜、确定、有明确验收条件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79192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7980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2B544"/>
                </a:solidFill>
                <a:latin typeface="Microsoft YaHei"/>
              </a:rPr>
              <a:t/>
            </a:r>
            <a:r>
              <a:rPr sz="1500" b="1">
                <a:solidFill>
                  <a:srgbClr val="F2B544"/>
                </a:solidFill>
                <a:latin typeface="Microsoft YaHei"/>
              </a:rPr>
              <a:t>② 圆桌会议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7797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/>
            </a:r>
            <a:r>
              <a:rPr sz="1100" b="0">
                <a:solidFill>
                  <a:srgbClr val="EAF0F6"/>
                </a:solidFill>
                <a:latin typeface="Microsoft YaHei"/>
              </a:rPr>
              <a:t>唯一允许 LLM 协商的地方（T1–T5）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063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只「归因完全失灵」才触发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75304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69417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2B544"/>
                </a:solidFill>
                <a:latin typeface="Microsoft YaHei"/>
              </a:rPr>
              <a:t/>
            </a:r>
            <a:r>
              <a:rPr sz="1500" b="1">
                <a:solidFill>
                  <a:srgbClr val="F2B544"/>
                </a:solidFill>
                <a:latin typeface="Microsoft YaHei"/>
              </a:rPr>
              <a:t>③ 升级真人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675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/>
            </a:r>
            <a:r>
              <a:rPr sz="1100" b="0">
                <a:solidFill>
                  <a:srgbClr val="EAF0F6"/>
                </a:solidFill>
                <a:latin typeface="Microsoft YaHei"/>
              </a:rPr>
              <a:t>打包成仲裁包，人只需做一次决定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959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圆桌无有效决议时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71416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5902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9AA7B4"/>
                </a:solidFill>
                <a:latin typeface="Microsoft YaHei"/>
              </a:rPr>
              <a:t/>
            </a:r>
            <a:r>
              <a:rPr sz="1500" b="1">
                <a:solidFill>
                  <a:srgbClr val="9AA7B4"/>
                </a:solidFill>
                <a:latin typeface="Microsoft YaHei"/>
              </a:rPr>
              <a:t>④ 带债通过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572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/>
            </a:r>
            <a:r>
              <a:rPr sz="1100" b="0">
                <a:solidFill>
                  <a:srgbClr val="EAF0F6"/>
                </a:solidFill>
                <a:latin typeface="Microsoft YaHei"/>
              </a:rPr>
              <a:t>写 DebtRecord + 需求标 accepted_with_debt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8554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真人不可用时的最终出口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1783080"/>
            <a:ext cx="3913632" cy="3401568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35C48F"/>
                </a:solidFill>
                <a:latin typeface="Microsoft YaHei"/>
              </a:rPr>
              <a:t>四个防空转机制</a:t>
            </a:r>
          </a:p>
          <a:p>
            <a:pPr algn="l">
              <a:spcBef>
                <a:spcPts val="12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阻断 3 次后权限自动终止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>否则两个 Agent 能互相否决到死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签名未变 → 不再开会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>实测过某阶段连开 6 次圆桌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修复无效 → 直接转逃生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>不重复付费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EAF0F6"/>
                </a:solidFill>
                <a:latin typeface="Microsoft YaHei"/>
              </a:rPr>
              <a:t>上下文超长 → 预算减半重试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>不让一次 400 打死整轮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35C48F"/>
                </a:solidFill>
                <a:latin typeface="Microsoft YaHei"/>
              </a:rPr>
              <a:t>真实日志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[CONTRACTING] 工单修复后硬失败签名未变（pm 的修复没有改变任何东西），不再重复重试，转逃生流程 → 带债通过（受影响需求 3 条）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AgentForge · 多角色 AI 研发引擎 · 赛道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5C48F"/>
                </a:solidFill>
                <a:latin typeface="Microsoft YaHei"/>
              </a:rPr>
              <a:t/>
            </a:r>
            <a:r>
              <a:rPr sz="1300" b="1">
                <a:solidFill>
                  <a:srgbClr val="35C48F"/>
                </a:solidFill>
                <a:latin typeface="Microsoft YaHei"/>
              </a:rPr>
              <a:t>可观测性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EAF0F6"/>
                </a:solidFill>
                <a:latin typeface="Microsoft YaHei"/>
              </a:rPr>
              <a:t/>
            </a:r>
            <a:r>
              <a:rPr sz="3000" b="1">
                <a:solidFill>
                  <a:srgbClr val="EAF0F6"/>
                </a:solidFill>
                <a:latin typeface="Microsoft YaHei"/>
              </a:rPr>
              <a:t>能回答「它到底看到了什么」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9AA7B4"/>
                </a:solidFill>
                <a:latin typeface="Microsoft YaHei"/>
              </a:rPr>
              <a:t/>
            </a:r>
            <a:r>
              <a:rPr sz="1400" b="0">
                <a:solidFill>
                  <a:srgbClr val="9AA7B4"/>
                </a:solidFill>
                <a:latin typeface="Microsoft YaHei"/>
              </a:rPr>
              <a:t>在这一行存在之前，「为什么它老是做不对」只能靠猜 —— 我们为此花了两小时复算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2B36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783080"/>
            <a:ext cx="6675120" cy="251460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5C48F"/>
                </a:solidFill>
                <a:latin typeface="Microsoft YaHei"/>
              </a:rPr>
              <a:t>run 日志里的输入审计（每次调用都记）</a:t>
            </a:r>
          </a:p>
          <a:p>
            <a:pPr algn="l">
              <a:spcBef>
                <a:spcPts val="1200"/>
              </a:spcBef>
            </a:pPr>
            <a:r>
              <a:rPr sz="1200" b="0">
                <a:solidFill>
                  <a:srgbClr val="EAF0F6"/>
                </a:solidFill>
                <a:latin typeface="Microsoft YaHei"/>
              </a:rPr>
              <a:t>上下文：23,177 / 60,000 字符（39%）  注入 3 个 · 丢弃 0 个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  其中契约摘要 1 个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  未注入：TaskGraph-001(15520·tier-cap)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  injected[]: {id, kind, chars, digest? | card?}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  omitted[]: {id, kind, chars, reason: tier-cap | no-space}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783080"/>
            <a:ext cx="4005072" cy="758952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8928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5C48F"/>
                </a:solidFill>
                <a:latin typeface="Microsoft YaHei"/>
              </a:rPr>
              <a:t/>
            </a:r>
            <a:r>
              <a:rPr sz="1300" b="1">
                <a:solidFill>
                  <a:srgbClr val="35C48F"/>
                </a:solidFill>
                <a:latin typeface="Microsoft YaHei"/>
              </a:rPr>
              <a:t>哈希链日志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17627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任何一条被改，链就断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651760"/>
            <a:ext cx="4005072" cy="758952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761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EAF0F6"/>
                </a:solidFill>
                <a:latin typeface="Microsoft YaHei"/>
              </a:rPr>
              <a:t/>
            </a:r>
            <a:r>
              <a:rPr sz="1300" b="1">
                <a:solidFill>
                  <a:srgbClr val="EAF0F6"/>
                </a:solidFill>
                <a:latin typeface="Microsoft YaHei"/>
              </a:rPr>
              <a:t>回放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04495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同一批模型输出可重放，把不确定性从实验里摘出去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520440"/>
            <a:ext cx="4005072" cy="758952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630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2B544"/>
                </a:solidFill>
                <a:latin typeface="Microsoft YaHei"/>
              </a:rPr>
              <a:t/>
            </a:r>
            <a:r>
              <a:rPr sz="1300" b="1">
                <a:solidFill>
                  <a:srgbClr val="F2B544"/>
                </a:solidFill>
                <a:latin typeface="Microsoft YaHei"/>
              </a:rPr>
              <a:t>锚点靶场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9136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45 个样本标定检查本身准不准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26280"/>
            <a:ext cx="10908792" cy="160020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5C48F"/>
                </a:solidFill>
                <a:latin typeface="Microsoft YaHei"/>
              </a:rPr>
              <a:t>靶场：45 个样本（30 注入 + 15 干净对照）</a:t>
            </a:r>
          </a:p>
          <a:p>
            <a:pPr algn="l">
              <a:spcBef>
                <a:spcPts val="800"/>
              </a:spcBef>
            </a:pPr>
            <a:r>
              <a:rPr sz="1800" b="1">
                <a:solidFill>
                  <a:srgbClr val="EAF0F6"/>
                </a:solidFill>
                <a:latin typeface="Microsoft YaHei"/>
              </a:rPr>
              <a:t>TP 30    FN 0    FP 0    TN 15    严重度不符 0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「干净通过率」比「检出率」更重要：一条会对好代码报警的检查，会让角色学会糊弄它 —— 此后所有真报都会被降权。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AgentForge · 多角色 AI 研发引擎 · 赛道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5C48F"/>
                </a:solidFill>
                <a:latin typeface="Microsoft YaHei"/>
              </a:rPr>
              <a:t/>
            </a:r>
            <a:r>
              <a:rPr sz="1300" b="1">
                <a:solidFill>
                  <a:srgbClr val="35C48F"/>
                </a:solidFill>
                <a:latin typeface="Microsoft YaHei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EAF0F6"/>
                </a:solidFill>
                <a:latin typeface="Microsoft YaHei"/>
              </a:rPr>
              <a:t/>
            </a:r>
            <a:r>
              <a:rPr sz="3000" b="1">
                <a:solidFill>
                  <a:srgbClr val="EAF0F6"/>
                </a:solidFill>
                <a:latin typeface="Microsoft YaHei"/>
              </a:rPr>
              <a:t>已经做到的，和还没做到的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2B36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783080"/>
            <a:ext cx="5303520" cy="361188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/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35C48F"/>
                </a:solidFill>
                <a:latin typeface="Microsoft YaHei"/>
              </a:rPr>
              <a:t>已经做到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EAF0F6"/>
                </a:solidFill>
                <a:latin typeface="Microsoft YaHei"/>
              </a:rPr>
              <a:t>真实大模型完整交付过一次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14/14 与 22/22 需求达成，fullyVerified = true，0 技术债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EAF0F6"/>
                </a:solidFill>
                <a:latin typeface="Microsoft YaHei"/>
              </a:rPr>
              <a:t>11 条确定性锚点 + 401 个测试守着「检查本身是对的」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靶场 45 样本零误报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EAF0F6"/>
                </a:solidFill>
                <a:latin typeface="Microsoft YaHei"/>
              </a:rPr>
              <a:t>一条可复用的方法论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先让失败可见，再谈减少失败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783080"/>
            <a:ext cx="5303520" cy="3611880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2B3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/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F2B544"/>
                </a:solidFill>
                <a:latin typeface="Microsoft YaHei"/>
              </a:rPr>
              <a:t>还没做到（诚实）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EAF0F6"/>
                </a:solidFill>
                <a:latin typeface="Microsoft YaHei"/>
              </a:rPr>
              <a:t>成功率还不稳定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四个平行任务里两个交付、一个仍在返工、一个卡在契约一致性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EAF0F6"/>
                </a:solidFill>
                <a:latin typeface="Microsoft YaHei"/>
              </a:rPr>
              <a:t>四轮并行只成一，方差还大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卡点集中在契约生成质量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EAF0F6"/>
                </a:solidFill>
                <a:latin typeface="Microsoft YaHei"/>
              </a:rPr>
              <a:t>B1 / B3 在成功那轮是 SKIPPED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7B4"/>
                </a:solidFill>
                <a:latin typeface="Microsoft YaHei"/>
              </a:rPr>
              <a:t>SKIPPED ≠ PASS，所以我们不算它通过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23560"/>
            <a:ext cx="10908792" cy="530352"/>
          </a:xfrm>
          <a:prstGeom prst="roundRect">
            <a:avLst>
              <a:gd name="adj" fmla="val 6000"/>
            </a:avLst>
          </a:prstGeom>
          <a:solidFill>
            <a:srgbClr val="182028"/>
          </a:solidFill>
          <a:ln w="12700">
            <a:solidFill>
              <a:srgbClr val="35C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5C48F"/>
                </a:solidFill>
                <a:latin typeface="Microsoft YaHei"/>
              </a:rPr>
              <a:t>接下来是现场真实运行（3 分钟）—— 不播录屏，直接跑；产物与证据都在仓库里，可当场复核。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AgentForge · 多角色 AI 研发引擎 · 赛道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9AA7B4"/>
                </a:solidFill>
                <a:latin typeface="Microsoft YaHei"/>
              </a:rPr>
              <a:t/>
            </a:r>
            <a:r>
              <a:rPr sz="1000" b="0">
                <a:solidFill>
                  <a:srgbClr val="9AA7B4"/>
                </a:solidFill>
                <a:latin typeface="Microsoft YaHe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